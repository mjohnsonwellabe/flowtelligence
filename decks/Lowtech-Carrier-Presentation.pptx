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503920" y="0"/>
            <a:ext cx="3687775" cy="6858000"/>
          </a:xfrm>
          <a:prstGeom prst="rect">
            <a:avLst/>
          </a:prstGeom>
          <a:solidFill>
            <a:srgbClr val="2D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03920" y="0"/>
            <a:ext cx="54864" cy="68580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1005840" cy="100584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5486400" cy="138988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7600" b="1">
                <a:solidFill>
                  <a:srgbClr val="FFFFFF"/>
                </a:solidFill>
                <a:latin typeface="Cambria"/>
              </a:rPr>
              <a:t>Low</a:t>
            </a:r>
            <a:r>
              <a:rPr sz="7600" b="1">
                <a:solidFill>
                  <a:srgbClr val="FFC220"/>
                </a:solidFill>
                <a:latin typeface="Cambria"/>
              </a:rPr>
              <a:t>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300">
                <a:solidFill>
                  <a:srgbClr val="FFC220"/>
                </a:solidFill>
                <a:latin typeface="Calibri"/>
              </a:rPr>
              <a:t>CARRIER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So simple it feels like cheating.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7223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B9CED6"/>
                </a:solidFill>
                <a:latin typeface="Calibri"/>
              </a:rPr>
              <a:t>Lowtech Carrier Solutions — a carrier platform where the technology stays out of your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2651760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The tech disappears.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C220"/>
                </a:solidFill>
                <a:latin typeface="Cambria"/>
              </a:rPr>
              <a:t>The results don't.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B9CED6"/>
                </a:solidFill>
                <a:latin typeface="Calibri"/>
              </a:rPr>
              <a:t>   Carrier Solutions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THE NAME / THE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Built by people who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ran a carrier.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5486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D4A5E"/>
                </a:solidFill>
                <a:latin typeface="Calibri"/>
              </a:rPr>
              <a:t>Lowtech Carrier Solutions was built by people who ran a carrier and felt the friction firsthand. Every design decision came from that experience.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0B1C2C"/>
                </a:solidFill>
                <a:latin typeface="Cambria"/>
              </a:rPr>
              <a:t>The name is an ironic flip.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D4A5E"/>
                </a:solidFill>
                <a:latin typeface="Calibri"/>
              </a:rPr>
              <a:t>“Low-tech” names the felt experience for the operator — not the sophistication underneath. If it feels low-tech to run, the engineering worked. Refreshingly plain in a category obsessed with sounding advanced.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0B1C2C"/>
                </a:solidFill>
                <a:latin typeface="Cambria"/>
              </a:rPr>
              <a:t>The technology is sophisticated; that's our job. The experience is simple; that's the point.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2331720"/>
            <a:ext cx="4572000" cy="3566160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0" y="2331720"/>
            <a:ext cx="73152" cy="356616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743200"/>
            <a:ext cx="4023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mbria"/>
              </a:rPr>
              <a:t>So easy it almost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mbria"/>
              </a:rPr>
              <a:t>doesn't feel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C220"/>
                </a:solidFill>
                <a:latin typeface="Cambria"/>
              </a:rPr>
              <a:t>technical.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9CED6"/>
                </a:solidFill>
                <a:latin typeface="Calibri"/>
              </a:rPr>
              <a:t>It takes no insurance liability and is additive to what you already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Every carrier has the same story.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5212080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73152" cy="1481328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95728"/>
            <a:ext cx="470916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The rate change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Should take a week. Takes a quarter. Most platforms weren't built to move at your speed.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2194560"/>
            <a:ext cx="5212080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44768" y="2194560"/>
            <a:ext cx="73152" cy="1481328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395728"/>
            <a:ext cx="470916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The product launch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Should take a month. Takes a year. Because the system can't handle it without a rebuild.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794760"/>
            <a:ext cx="5212080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73152" cy="1481328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995928"/>
            <a:ext cx="470916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The rule update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Six weeks, minimum. The change itself takes an hour. The process around it takes the rest.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3794760"/>
            <a:ext cx="5212080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3794760"/>
            <a:ext cx="73152" cy="1481328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3995928"/>
            <a:ext cx="470916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The new state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Your distribution wants to expand. Your technology says wait until next year.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486400"/>
            <a:ext cx="10533888" cy="566928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486400"/>
            <a:ext cx="73152" cy="566928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56869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FFFFFF"/>
                </a:solidFill>
                <a:latin typeface="Calibri"/>
              </a:rPr>
              <a:t>None of this is inevitable. It's just what happens when the platform wasn't built for the people who run the carrier.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One platform. Three ways it changes your business.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3291840" cy="3063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329184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395728"/>
            <a:ext cx="27889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0B1C2C"/>
                </a:solidFill>
                <a:latin typeface="Cambria"/>
              </a:rPr>
              <a:t>Orchestrator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B7A8C"/>
                </a:solidFill>
                <a:latin typeface="Calibri"/>
              </a:rPr>
              <a:t>EASY TO DEPLOY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5A6B78"/>
                </a:solidFill>
                <a:latin typeface="Calibri"/>
              </a:rPr>
              <a:t>The configurability engine. Your operations team configures products, underwriting rules, screens, questions, and API calls through a drag-and-drop studio. No code. Sandbox to production in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2194560"/>
            <a:ext cx="3291840" cy="3063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2194560"/>
            <a:ext cx="329184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395728"/>
            <a:ext cx="27889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0B1C2C"/>
                </a:solidFill>
                <a:latin typeface="Cambria"/>
              </a:rPr>
              <a:t>Enroller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B7A8C"/>
                </a:solidFill>
                <a:latin typeface="Calibri"/>
              </a:rPr>
              <a:t>FUELS GROWTH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5A6B78"/>
                </a:solidFill>
                <a:latin typeface="Calibri"/>
              </a:rPr>
              <a:t>The point-of-sale e-app your agents use. First question to issued policy, with real-time underwriting decisions at the point of sale. No callback, no delay — more applications, more writing agents.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8975" y="2194560"/>
            <a:ext cx="3291840" cy="3063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8975" y="2194560"/>
            <a:ext cx="329184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395728"/>
            <a:ext cx="27889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0B1C2C"/>
                </a:solidFill>
                <a:latin typeface="Cambria"/>
              </a:rPr>
              <a:t>Engagement Suite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B7A8C"/>
                </a:solidFill>
                <a:latin typeface="Calibri"/>
              </a:rPr>
              <a:t>FUELS INTELLIGENCE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5A6B78"/>
                </a:solidFill>
                <a:latin typeface="Calibri"/>
              </a:rPr>
              <a:t>Pulse + Engage. Executive analytics on STP, pipeline, and agent performance — live. Plus agent messaging, incentives, product matching, scanning, and lead routing. Decision-making and engagement, compounding.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468112"/>
            <a:ext cx="10533888" cy="603504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5468112"/>
            <a:ext cx="73152" cy="603504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54126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Deploy fast. Sell at the point of sale. Compound growth with intelligence and engagement — all run by the carrier's own team.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Your team does it. No IT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2542032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084832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FFC220"/>
                </a:solidFill>
                <a:latin typeface="Cambria"/>
              </a:rPr>
              <a:t>01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You decide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A6B78"/>
                </a:solidFill>
                <a:latin typeface="Calibri"/>
              </a:rPr>
              <a:t>What screens agents see. What questions get asked. What order. What rules apply.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7288" y="2331720"/>
            <a:ext cx="2542032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2542032"/>
            <a:ext cx="2084832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FFC220"/>
                </a:solidFill>
                <a:latin typeface="Cambria"/>
              </a:rPr>
              <a:t>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You configure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A6B78"/>
                </a:solidFill>
                <a:latin typeface="Calibri"/>
              </a:rPr>
              <a:t>In Orchestrator — a studio designed for operations people, not developers. Click, drag, save.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71616" y="2331720"/>
            <a:ext cx="2542032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542032"/>
            <a:ext cx="2084832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FFC220"/>
                </a:solidFill>
                <a:latin typeface="Cambria"/>
              </a:rPr>
              <a:t>03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You preview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A6B78"/>
                </a:solidFill>
                <a:latin typeface="Calibri"/>
              </a:rPr>
              <a:t>See exactly what agents will experience in Enroller — before anything goes live.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95944" y="2331720"/>
            <a:ext cx="2542032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24544" y="2542032"/>
            <a:ext cx="2084832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FFC220"/>
                </a:solidFill>
                <a:latin typeface="Cambria"/>
              </a:rPr>
              <a:t>04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You promote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A6B78"/>
                </a:solidFill>
                <a:latin typeface="Calibri"/>
              </a:rPr>
              <a:t>Sandbox to production. One click. Changes are live immediately. Your timeline, not IT's.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715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D4A5E"/>
                </a:solidFill>
                <a:latin typeface="Calibri"/>
              </a:rPr>
              <a:t>The whole cycle — decision to live — in the time most platforms spend just getting to requirements.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FFC220"/>
                </a:solidFill>
                <a:latin typeface="Calibri"/>
              </a:rPr>
              <a:t>THE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What the platform actually produces.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B9CED6"/>
                </a:solidFill>
                <a:latin typeface="Calibri"/>
              </a:rPr>
              <a:t>Real results from a production carrier deployment — not a pilot, not a projections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FFC220"/>
                </a:solidFill>
                <a:latin typeface="Cambria"/>
              </a:rPr>
              <a:t>235%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Year-over-year sales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83464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FFC220"/>
                </a:solidFill>
                <a:latin typeface="Cambria"/>
              </a:rPr>
              <a:t>75%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Straight-through processing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83464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FFC220"/>
                </a:solidFill>
                <a:latin typeface="Cambria"/>
              </a:rPr>
              <a:t>37%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More applications per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83464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FFC220"/>
                </a:solidFill>
                <a:latin typeface="Cambria"/>
              </a:rPr>
              <a:t>58%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More writing agents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800600"/>
            <a:ext cx="10533888" cy="1234440"/>
          </a:xfrm>
          <a:prstGeom prst="rect">
            <a:avLst/>
          </a:prstGeom>
          <a:solidFill>
            <a:srgbClr val="2D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4800600"/>
            <a:ext cx="73152" cy="1234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02920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1">
                <a:solidFill>
                  <a:srgbClr val="FFFFFF"/>
                </a:solidFill>
                <a:latin typeface="Cambria"/>
              </a:rPr>
              <a:t>“This is the easiest system I use compared to other carriers. Auto-underwriting is amazing.”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B9CED6"/>
                </a:solidFill>
                <a:latin typeface="Calibri"/>
              </a:rPr>
              <a:t>— Agent, Enroller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B9CED6"/>
                </a:solidFill>
                <a:latin typeface="Calibri"/>
              </a:rPr>
              <a:t>   Carrier Solutions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9CED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PLATFORM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Five products. One outcome.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86000"/>
            <a:ext cx="2011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86000"/>
            <a:ext cx="2011680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87168"/>
            <a:ext cx="16916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C220"/>
                </a:solidFill>
                <a:latin typeface="Cambria"/>
              </a:rPr>
              <a:t>01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C2C"/>
                </a:solidFill>
                <a:latin typeface="Cambria"/>
              </a:rPr>
              <a:t>Orchestrator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The configurability engine. Products, rules, screens, and API calls — configured by your operations team. Drag, drop, done.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39796" y="2286000"/>
            <a:ext cx="2011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39796" y="2286000"/>
            <a:ext cx="2011680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22676" y="2487168"/>
            <a:ext cx="16916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C220"/>
                </a:solidFill>
                <a:latin typeface="Cambria"/>
              </a:rPr>
              <a:t>02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C2C"/>
                </a:solidFill>
                <a:latin typeface="Cambria"/>
              </a:rPr>
              <a:t>Enroller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The e-app platform your agents use. First question to issued policy. Real-time decisions. No callback.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56632" y="2286000"/>
            <a:ext cx="2011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56632" y="2286000"/>
            <a:ext cx="2011680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2487168"/>
            <a:ext cx="16916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C220"/>
                </a:solidFill>
                <a:latin typeface="Cambria"/>
              </a:rPr>
              <a:t>03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C2C"/>
                </a:solidFill>
                <a:latin typeface="Cambria"/>
              </a:rPr>
              <a:t>Pulse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Executive analytics. Agent performance, pipeline health, STP rates. Live — not last week's report.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3468" y="2286000"/>
            <a:ext cx="2011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73468" y="2286000"/>
            <a:ext cx="2011680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6348" y="2487168"/>
            <a:ext cx="16916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C220"/>
                </a:solidFill>
                <a:latin typeface="Cambria"/>
              </a:rPr>
              <a:t>04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C2C"/>
                </a:solidFill>
                <a:latin typeface="Cambria"/>
              </a:rPr>
              <a:t>Engage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Agent messaging, incentives, product matching, scanning, and lead routing. Every touchpoint covered.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90304" y="2286000"/>
            <a:ext cx="2011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90304" y="2286000"/>
            <a:ext cx="2011680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3184" y="2487168"/>
            <a:ext cx="16916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C220"/>
                </a:solidFill>
                <a:latin typeface="Cambria"/>
              </a:rPr>
              <a:t>05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C2C"/>
                </a:solidFill>
                <a:latin typeface="Cambria"/>
              </a:rPr>
              <a:t>Launchpad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Implementation. From signed contract to live production in weeks — not months or years.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D4A5E"/>
                </a:solidFill>
                <a:latin typeface="Calibri"/>
              </a:rPr>
              <a:t>Nothing complicated.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PLATFORM SUITE ·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Orchestrator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1">
                <a:solidFill>
                  <a:srgbClr val="0B7A8C"/>
                </a:solidFill>
                <a:latin typeface="Cambria"/>
              </a:rPr>
              <a:t>The configurability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64922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Configure products, underwriting rules, screens, questions, and API calls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A drag-and-drop studio built for operations people — no code, no manual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Sandbox-to-production promotion in minutes, on your timeline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New products, states, and distribution models without a rebuild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331720"/>
            <a:ext cx="3657600" cy="3566160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0" y="2331720"/>
            <a:ext cx="73152" cy="356616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2606040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FFC220"/>
                </a:solidFill>
                <a:latin typeface="Calibri"/>
              </a:rPr>
              <a:t>WHO USES 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Your operations team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FFC220"/>
                </a:solidFill>
                <a:latin typeface="Calibri"/>
              </a:rPr>
              <a:t>THE OUTCOME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1">
                <a:solidFill>
                  <a:srgbClr val="B9CED6"/>
                </a:solidFill>
                <a:latin typeface="Cambria"/>
              </a:rPr>
              <a:t>Change that used to take a quarter now takes an afternoon.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PLATFORM SUITE ·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Enroller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1">
                <a:solidFill>
                  <a:srgbClr val="0B7A8C"/>
                </a:solidFill>
                <a:latin typeface="Cambria"/>
              </a:rPr>
              <a:t>The point-of-sale e-app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64922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First question to issued policy in a single guided flow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Real-time underwriting decisions at the point of sale — no callback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Preview exactly what agents see before anything goes live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The interface agents actually like to 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331720"/>
            <a:ext cx="3657600" cy="3566160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0" y="2331720"/>
            <a:ext cx="73152" cy="356616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2606040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FFC220"/>
                </a:solidFill>
                <a:latin typeface="Calibri"/>
              </a:rPr>
              <a:t>WHO USES 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Your agents &amp; distribution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FFC220"/>
                </a:solidFill>
                <a:latin typeface="Calibri"/>
              </a:rPr>
              <a:t>THE OUTCOME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1">
                <a:solidFill>
                  <a:srgbClr val="B9CED6"/>
                </a:solidFill>
                <a:latin typeface="Cambria"/>
              </a:rPr>
              <a:t>37% more applications per agent. 58% more writing agents.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PLATFORM SUITE ·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1">
                <a:solidFill>
                  <a:srgbClr val="0B7A8C"/>
                </a:solidFill>
                <a:latin typeface="Cambria"/>
              </a:rPr>
              <a:t>Executive analytics,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64922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Straight-through-processing rate, pipeline health, and conversion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Agent performance and production leaderboards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Live dashboards — not last week's report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The numbers leadership needs to steer, in real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331720"/>
            <a:ext cx="3657600" cy="3566160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0" y="2331720"/>
            <a:ext cx="73152" cy="356616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2606040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FFC220"/>
                </a:solidFill>
                <a:latin typeface="Calibri"/>
              </a:rPr>
              <a:t>WHO USES 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Leadership &amp; operations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FFC220"/>
                </a:solidFill>
                <a:latin typeface="Calibri"/>
              </a:rPr>
              <a:t>THE OUTCOME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1">
                <a:solidFill>
                  <a:srgbClr val="B9CED6"/>
                </a:solidFill>
                <a:latin typeface="Cambria"/>
              </a:rPr>
              <a:t>Decisions made on what's happening now, not what happened last month.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PLATFORM SUITE ·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Engage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1">
                <a:solidFill>
                  <a:srgbClr val="0B7A8C"/>
                </a:solidFill>
                <a:latin typeface="Cambria"/>
              </a:rPr>
              <a:t>The agent engagement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64922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Agent messaging, incentives, and contests that drive behavior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Product matching (MatchIQ) to put the right coverage in front of each client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Application scanning and clean data capture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Lead routing that gets opportunities to the right agent fast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331720"/>
            <a:ext cx="3657600" cy="3566160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0" y="2331720"/>
            <a:ext cx="73152" cy="356616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2606040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FFC220"/>
                </a:solidFill>
                <a:latin typeface="Calibri"/>
              </a:rPr>
              <a:t>WHO USES 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Your whole distribution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FFC220"/>
                </a:solidFill>
                <a:latin typeface="Calibri"/>
              </a:rPr>
              <a:t>THE OUTCOME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1">
                <a:solidFill>
                  <a:srgbClr val="B9CED6"/>
                </a:solidFill>
                <a:latin typeface="Cambria"/>
              </a:rPr>
              <a:t>Every touchpoint covered — engagement that compounds into growth.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PLATFORM SUITE ·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Launchpad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1">
                <a:solidFill>
                  <a:srgbClr val="0B7A8C"/>
                </a:solidFill>
                <a:latin typeface="Cambria"/>
              </a:rPr>
              <a:t>Implementation, handled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64922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From signed contract to live production in weeks, not months or years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A proven path that gets your product to market fast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Configuration handed to your team — so you own it after go-live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D4A5E"/>
                </a:solidFill>
                <a:latin typeface="Calibri"/>
              </a:rPr>
              <a:t>Additive to what you already run; takes no insurance liability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331720"/>
            <a:ext cx="3657600" cy="3566160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0" y="2331720"/>
            <a:ext cx="73152" cy="356616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2606040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FFC220"/>
                </a:solidFill>
                <a:latin typeface="Calibri"/>
              </a:rPr>
              <a:t>WHO USES 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You + our team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FFC220"/>
                </a:solidFill>
                <a:latin typeface="Calibri"/>
              </a:rPr>
              <a:t>THE OUTCOME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1">
                <a:solidFill>
                  <a:srgbClr val="B9CED6"/>
                </a:solidFill>
                <a:latin typeface="Cambria"/>
              </a:rPr>
              <a:t>Live in weeks — and independent from day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4864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FFC220"/>
                </a:solidFill>
                <a:latin typeface="Calibri"/>
              </a:rPr>
              <a:t>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The team behind the platform.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2542032" cy="2011680"/>
          </a:xfrm>
          <a:prstGeom prst="rect">
            <a:avLst/>
          </a:prstGeom>
          <a:solidFill>
            <a:srgbClr val="2D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2542032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213969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Matt Johnson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CEO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B9CED6"/>
                </a:solidFill>
                <a:latin typeface="Calibri"/>
              </a:rPr>
              <a:t>Former Chief Actuary &amp; VP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2377440"/>
            <a:ext cx="2542032" cy="2011680"/>
          </a:xfrm>
          <a:prstGeom prst="rect">
            <a:avLst/>
          </a:prstGeom>
          <a:solidFill>
            <a:srgbClr val="2D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47288" y="2377440"/>
            <a:ext cx="2542032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2606040"/>
            <a:ext cx="213969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Bill Butters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CTO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B9CED6"/>
                </a:solidFill>
                <a:latin typeface="Calibri"/>
              </a:rPr>
              <a:t>Platform Architect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71616" y="2377440"/>
            <a:ext cx="2542032" cy="2011680"/>
          </a:xfrm>
          <a:prstGeom prst="rect">
            <a:avLst/>
          </a:prstGeom>
          <a:solidFill>
            <a:srgbClr val="2D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71616" y="2377440"/>
            <a:ext cx="2542032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2606040"/>
            <a:ext cx="213969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Dave Keith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Strategic Advisor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B9CED6"/>
                </a:solidFill>
                <a:latin typeface="Calibri"/>
              </a:rPr>
              <a:t>Co-founded SE2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95944" y="2377440"/>
            <a:ext cx="2542032" cy="2011680"/>
          </a:xfrm>
          <a:prstGeom prst="rect">
            <a:avLst/>
          </a:prstGeom>
          <a:solidFill>
            <a:srgbClr val="2D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95944" y="2377440"/>
            <a:ext cx="2542032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7112" y="2606040"/>
            <a:ext cx="213969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Todd Nevenhoven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C220"/>
                </a:solidFill>
                <a:latin typeface="Calibri"/>
              </a:rPr>
              <a:t>Operating Advisor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B9CED6"/>
                </a:solidFill>
                <a:latin typeface="Calibri"/>
              </a:rPr>
              <a:t>Carrier &amp; TPA Operations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754880"/>
            <a:ext cx="10533888" cy="1234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983480"/>
            <a:ext cx="10058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B1C2C"/>
                </a:solidFill>
                <a:latin typeface="Cambria"/>
              </a:rPr>
              <a:t>The tech disappears. The results don't.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C2C"/>
                </a:solidFill>
                <a:latin typeface="Calibri"/>
              </a:rPr>
              <a:t>Lowtech Carrier Solutions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B9CED6"/>
                </a:solidFill>
                <a:latin typeface="Calibri"/>
              </a:rPr>
              <a:t>   Carrier Solutions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9CED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