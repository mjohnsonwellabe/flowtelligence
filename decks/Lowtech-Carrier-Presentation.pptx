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503920" y="0"/>
            <a:ext cx="3687775" cy="6858000"/>
          </a:xfrm>
          <a:prstGeom prst="rect">
            <a:avLst/>
          </a:prstGeom>
          <a:solidFill>
            <a:srgbClr val="2D4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503920" y="0"/>
            <a:ext cx="54864" cy="6858000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22960" y="868680"/>
            <a:ext cx="1005840" cy="100584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5486400" cy="1389888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7600" b="1">
                <a:solidFill>
                  <a:srgbClr val="FFFFFF"/>
                </a:solidFill>
                <a:latin typeface="Cambria"/>
              </a:rPr>
              <a:t>Low</a:t>
            </a:r>
            <a:r>
              <a:rPr sz="7600" b="1">
                <a:solidFill>
                  <a:srgbClr val="FFC220"/>
                </a:solidFill>
                <a:latin typeface="Cambria"/>
              </a:rPr>
              <a:t>tech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 spc="300">
                <a:solidFill>
                  <a:srgbClr val="FFC220"/>
                </a:solidFill>
                <a:latin typeface="Calibri"/>
              </a:rPr>
              <a:t>CARRIER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80360"/>
            <a:ext cx="731520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mbria"/>
              </a:rPr>
              <a:t>So simple it feels like cheating.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074920"/>
            <a:ext cx="72237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B9CED6"/>
                </a:solidFill>
                <a:latin typeface="Calibri"/>
              </a:rPr>
              <a:t>Lowtech Carrier Solutions — a carrier platform where the technology stays out of your way.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23960" y="2651760"/>
            <a:ext cx="310896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Technology made simple.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C220"/>
                </a:solidFill>
                <a:latin typeface="Cambria"/>
              </a:rPr>
              <a:t>Growth made exponential.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419088"/>
            <a:ext cx="548640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Cambria"/>
              </a:rPr>
              <a:t>Low</a:t>
            </a:r>
            <a:r>
              <a:rPr sz="1100" b="1">
                <a:solidFill>
                  <a:srgbClr val="FFC220"/>
                </a:solidFill>
                <a:latin typeface="Cambria"/>
              </a:rPr>
              <a:t>tech</a:t>
            </a:r>
            <a:r>
              <a:rPr sz="1000">
                <a:solidFill>
                  <a:srgbClr val="B9CED6"/>
                </a:solidFill>
                <a:latin typeface="Calibri"/>
              </a:rPr>
              <a:t>   Carrier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0" y="502920"/>
            <a:ext cx="731520" cy="91440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713232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 spc="240">
                <a:solidFill>
                  <a:srgbClr val="0B7A8C"/>
                </a:solidFill>
                <a:latin typeface="Calibri"/>
              </a:rPr>
              <a:t>THE NAME / THE 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0B1C2C"/>
                </a:solidFill>
                <a:latin typeface="Cambria"/>
              </a:rPr>
              <a:t>Built by people who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0B1C2C"/>
                </a:solidFill>
                <a:latin typeface="Cambria"/>
              </a:rPr>
              <a:t>ran a carrier.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19088"/>
            <a:ext cx="548640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100" b="1">
                <a:solidFill>
                  <a:srgbClr val="0B1C2C"/>
                </a:solidFill>
                <a:latin typeface="Cambria"/>
              </a:rPr>
              <a:t>Low</a:t>
            </a:r>
            <a:r>
              <a:rPr sz="1100" b="1">
                <a:solidFill>
                  <a:srgbClr val="FFC220"/>
                </a:solidFill>
                <a:latin typeface="Cambria"/>
              </a:rPr>
              <a:t>tech</a:t>
            </a:r>
            <a:r>
              <a:rPr sz="1000">
                <a:solidFill>
                  <a:srgbClr val="5A6B78"/>
                </a:solidFill>
                <a:latin typeface="Calibri"/>
              </a:rPr>
              <a:t>   Carrier Solutions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B78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14600"/>
            <a:ext cx="5486400" cy="3657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0" i="0">
                <a:solidFill>
                  <a:srgbClr val="2D4A5E"/>
                </a:solidFill>
                <a:latin typeface="Calibri"/>
              </a:rPr>
              <a:t>Lowtech Carrier Solutions was built by people who ran a carrier and felt the friction firsthand. Every design decision came from that experience.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0B1C2C"/>
                </a:solidFill>
                <a:latin typeface="Cambria"/>
              </a:rPr>
              <a:t>The name is an ironic flip.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0" i="0">
                <a:solidFill>
                  <a:srgbClr val="2D4A5E"/>
                </a:solidFill>
                <a:latin typeface="Calibri"/>
              </a:rPr>
              <a:t>“Low-tech” names the felt experience for the operator — not the sophistication underneath. If it feels low-tech to run, the engineering worked. Refreshingly plain in a category obsessed with sounding advanced.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0B1C2C"/>
                </a:solidFill>
                <a:latin typeface="Cambria"/>
              </a:rPr>
              <a:t>The technology is sophisticated; that's our job. The experience is simple; that's the point.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766560" y="2331720"/>
            <a:ext cx="4572000" cy="3566160"/>
          </a:xfrm>
          <a:prstGeom prst="rect">
            <a:avLst/>
          </a:prstGeom>
          <a:solidFill>
            <a:srgbClr val="0B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766560" y="2331720"/>
            <a:ext cx="73152" cy="3566160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86600" y="2743200"/>
            <a:ext cx="4023360" cy="2926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Cambria"/>
              </a:rPr>
              <a:t>So easy it almost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Cambria"/>
              </a:rPr>
              <a:t>doesn't feel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FFC220"/>
                </a:solidFill>
                <a:latin typeface="Cambria"/>
              </a:rPr>
              <a:t>technical.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B9CED6"/>
                </a:solidFill>
                <a:latin typeface="Calibri"/>
              </a:rPr>
              <a:t>It's additive to everything you already run — not a rip-and-replace.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0" y="502920"/>
            <a:ext cx="731520" cy="91440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713232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 spc="240">
                <a:solidFill>
                  <a:srgbClr val="0B7A8C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0B1C2C"/>
                </a:solidFill>
                <a:latin typeface="Cambria"/>
              </a:rPr>
              <a:t>Every carrier has the same story.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19088"/>
            <a:ext cx="548640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100" b="1">
                <a:solidFill>
                  <a:srgbClr val="0B1C2C"/>
                </a:solidFill>
                <a:latin typeface="Cambria"/>
              </a:rPr>
              <a:t>Low</a:t>
            </a:r>
            <a:r>
              <a:rPr sz="1100" b="1">
                <a:solidFill>
                  <a:srgbClr val="FFC220"/>
                </a:solidFill>
                <a:latin typeface="Cambria"/>
              </a:rPr>
              <a:t>tech</a:t>
            </a:r>
            <a:r>
              <a:rPr sz="1000">
                <a:solidFill>
                  <a:srgbClr val="5A6B78"/>
                </a:solidFill>
                <a:latin typeface="Calibri"/>
              </a:rPr>
              <a:t>   Carrier Solutions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B78"/>
                </a:solidFill>
                <a:latin typeface="Calibri"/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194560"/>
            <a:ext cx="5212080" cy="1481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" y="2194560"/>
            <a:ext cx="73152" cy="1481328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2395728"/>
            <a:ext cx="4709160" cy="11155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1" i="0">
                <a:solidFill>
                  <a:srgbClr val="0B1C2C"/>
                </a:solidFill>
                <a:latin typeface="Cambria"/>
              </a:rPr>
              <a:t>The rate change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5A6B78"/>
                </a:solidFill>
                <a:latin typeface="Calibri"/>
              </a:rPr>
              <a:t>Should take a week. Takes a quarter. Most platforms weren't built to move at your speed.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44768" y="2194560"/>
            <a:ext cx="5212080" cy="1481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44768" y="2194560"/>
            <a:ext cx="73152" cy="1481328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19088" y="2395728"/>
            <a:ext cx="4709160" cy="11155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1" i="0">
                <a:solidFill>
                  <a:srgbClr val="0B1C2C"/>
                </a:solidFill>
                <a:latin typeface="Cambria"/>
              </a:rPr>
              <a:t>The product launch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5A6B78"/>
                </a:solidFill>
                <a:latin typeface="Calibri"/>
              </a:rPr>
              <a:t>Should take a month. Takes a year. Because the system can't handle it without a rebuild.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3794760"/>
            <a:ext cx="5212080" cy="1481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2960" y="3794760"/>
            <a:ext cx="73152" cy="1481328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" y="3995928"/>
            <a:ext cx="4709160" cy="11155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1" i="0">
                <a:solidFill>
                  <a:srgbClr val="0B1C2C"/>
                </a:solidFill>
                <a:latin typeface="Cambria"/>
              </a:rPr>
              <a:t>The rule update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5A6B78"/>
                </a:solidFill>
                <a:latin typeface="Calibri"/>
              </a:rPr>
              <a:t>Six weeks, minimum. The change itself takes an hour. The process around it takes the rest.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44768" y="3794760"/>
            <a:ext cx="5212080" cy="1481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44768" y="3794760"/>
            <a:ext cx="73152" cy="1481328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19088" y="3995928"/>
            <a:ext cx="4709160" cy="11155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1" i="0">
                <a:solidFill>
                  <a:srgbClr val="0B1C2C"/>
                </a:solidFill>
                <a:latin typeface="Cambria"/>
              </a:rPr>
              <a:t>The new state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5A6B78"/>
                </a:solidFill>
                <a:latin typeface="Calibri"/>
              </a:rPr>
              <a:t>Your distribution wants to expand. Your technology says wait until next year.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5486400"/>
            <a:ext cx="10533888" cy="566928"/>
          </a:xfrm>
          <a:prstGeom prst="rect">
            <a:avLst/>
          </a:prstGeom>
          <a:solidFill>
            <a:srgbClr val="0B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22960" y="5486400"/>
            <a:ext cx="73152" cy="566928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97280" y="5568696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1">
                <a:solidFill>
                  <a:srgbClr val="FFFFFF"/>
                </a:solidFill>
                <a:latin typeface="Calibri"/>
              </a:rPr>
              <a:t>None of this is inevitable. It's just what happens when the platform wasn't built for the people who run the carrier.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0" y="502920"/>
            <a:ext cx="731520" cy="91440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713232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 spc="240">
                <a:solidFill>
                  <a:srgbClr val="0B7A8C"/>
                </a:solidFill>
                <a:latin typeface="Calibri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0B1C2C"/>
                </a:solidFill>
                <a:latin typeface="Cambria"/>
              </a:rPr>
              <a:t>One platform. Three ways it changes your business.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19088"/>
            <a:ext cx="548640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100" b="1">
                <a:solidFill>
                  <a:srgbClr val="0B1C2C"/>
                </a:solidFill>
                <a:latin typeface="Cambria"/>
              </a:rPr>
              <a:t>Low</a:t>
            </a:r>
            <a:r>
              <a:rPr sz="1100" b="1">
                <a:solidFill>
                  <a:srgbClr val="FFC220"/>
                </a:solidFill>
                <a:latin typeface="Cambria"/>
              </a:rPr>
              <a:t>tech</a:t>
            </a:r>
            <a:r>
              <a:rPr sz="1000">
                <a:solidFill>
                  <a:srgbClr val="5A6B78"/>
                </a:solidFill>
                <a:latin typeface="Calibri"/>
              </a:rPr>
              <a:t>   Carrier Solutions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B78"/>
                </a:solidFill>
                <a:latin typeface="Calibri"/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194560"/>
            <a:ext cx="3291840" cy="3063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" y="2194560"/>
            <a:ext cx="3291840" cy="91440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78992" y="2395728"/>
            <a:ext cx="2788920" cy="2834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0B1C2C"/>
                </a:solidFill>
                <a:latin typeface="Cambria"/>
              </a:rPr>
              <a:t>Orchestrator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 i="0">
                <a:solidFill>
                  <a:srgbClr val="0B7A8C"/>
                </a:solidFill>
                <a:latin typeface="Calibri"/>
              </a:rPr>
              <a:t>EASY TO DEPLOY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5A6B78"/>
                </a:solidFill>
                <a:latin typeface="Calibri"/>
              </a:rPr>
              <a:t>The configurability engine. Your business team configures products, underwriting rules, screens, questions, and API calls through a drag-and-drop studio. No code. Sandbox to production in minutes.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15968" y="2194560"/>
            <a:ext cx="3291840" cy="3063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15968" y="2194560"/>
            <a:ext cx="3291840" cy="91440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2395728"/>
            <a:ext cx="2788920" cy="2834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0B1C2C"/>
                </a:solidFill>
                <a:latin typeface="Cambria"/>
              </a:rPr>
              <a:t>Enroller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 i="0">
                <a:solidFill>
                  <a:srgbClr val="0B7A8C"/>
                </a:solidFill>
                <a:latin typeface="Calibri"/>
              </a:rPr>
              <a:t>FUELS GROWTH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5A6B78"/>
                </a:solidFill>
                <a:latin typeface="Calibri"/>
              </a:rPr>
              <a:t>The point-of-sale e-app your agents use. First question to issued policy, with real-time underwriting decisions at the point of sale. No callback, no delay — more applications, more writing agents.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8975" y="2194560"/>
            <a:ext cx="3291840" cy="3063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808975" y="2194560"/>
            <a:ext cx="3291840" cy="91440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65007" y="2395728"/>
            <a:ext cx="2788920" cy="2834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0B1C2C"/>
                </a:solidFill>
                <a:latin typeface="Cambria"/>
              </a:rPr>
              <a:t>Engagement Suite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 i="0">
                <a:solidFill>
                  <a:srgbClr val="0B7A8C"/>
                </a:solidFill>
                <a:latin typeface="Calibri"/>
              </a:rPr>
              <a:t>FUELS INTELLIGENCE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5A6B78"/>
                </a:solidFill>
                <a:latin typeface="Calibri"/>
              </a:rPr>
              <a:t>Pulse + Engage. Executive analytics on STP, pipeline, and agent performance — live. Plus agent messaging, incentives, product matching, scanning, and lead routing. Decision-making and engagement, compounding.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5468112"/>
            <a:ext cx="10533888" cy="603504"/>
          </a:xfrm>
          <a:prstGeom prst="rect">
            <a:avLst/>
          </a:prstGeom>
          <a:solidFill>
            <a:srgbClr val="0B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22960" y="5468112"/>
            <a:ext cx="73152" cy="603504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" y="5541264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Deploy fast. Sell at the point of sale. Compound growth with intelligence and engagement — all run by the carrier's own team.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0" y="502920"/>
            <a:ext cx="731520" cy="91440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713232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 spc="240">
                <a:solidFill>
                  <a:srgbClr val="0B7A8C"/>
                </a:solidFill>
                <a:latin typeface="Calibri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0B1C2C"/>
                </a:solidFill>
                <a:latin typeface="Cambria"/>
              </a:rPr>
              <a:t>Your team does it. No IT required.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19088"/>
            <a:ext cx="548640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100" b="1">
                <a:solidFill>
                  <a:srgbClr val="0B1C2C"/>
                </a:solidFill>
                <a:latin typeface="Cambria"/>
              </a:rPr>
              <a:t>Low</a:t>
            </a:r>
            <a:r>
              <a:rPr sz="1100" b="1">
                <a:solidFill>
                  <a:srgbClr val="FFC220"/>
                </a:solidFill>
                <a:latin typeface="Cambria"/>
              </a:rPr>
              <a:t>tech</a:t>
            </a:r>
            <a:r>
              <a:rPr sz="1000">
                <a:solidFill>
                  <a:srgbClr val="5A6B78"/>
                </a:solidFill>
                <a:latin typeface="Calibri"/>
              </a:rPr>
              <a:t>   Carrier Solutions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B78"/>
                </a:solidFill>
                <a:latin typeface="Calibri"/>
              </a:rP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331720"/>
            <a:ext cx="2542032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2542032"/>
            <a:ext cx="2084832" cy="2834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2200" b="1" i="0">
                <a:solidFill>
                  <a:srgbClr val="FFC220"/>
                </a:solidFill>
                <a:latin typeface="Cambria"/>
              </a:rPr>
              <a:t>01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0B1C2C"/>
                </a:solidFill>
                <a:latin typeface="Cambria"/>
              </a:rPr>
              <a:t>You decide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5A6B78"/>
                </a:solidFill>
                <a:latin typeface="Calibri"/>
              </a:rPr>
              <a:t>What screens agents see. What questions get asked. What order. What rules apply.</a:t>
            </a:r>
          </a:p>
        </p:txBody>
      </p:sp>
      <p:sp>
        <p:nvSpPr>
          <p:cNvPr id="9" name="Rectangle 8"/>
          <p:cNvSpPr/>
          <p:nvPr/>
        </p:nvSpPr>
        <p:spPr>
          <a:xfrm>
            <a:off x="3447288" y="2331720"/>
            <a:ext cx="2542032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75888" y="2542032"/>
            <a:ext cx="2084832" cy="2834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2200" b="1" i="0">
                <a:solidFill>
                  <a:srgbClr val="FFC220"/>
                </a:solidFill>
                <a:latin typeface="Cambria"/>
              </a:rPr>
              <a:t>02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0B1C2C"/>
                </a:solidFill>
                <a:latin typeface="Cambria"/>
              </a:rPr>
              <a:t>You configure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5A6B78"/>
                </a:solidFill>
                <a:latin typeface="Calibri"/>
              </a:rPr>
              <a:t>In Orchestrator — a studio designed for business teams, not developers. Click, drag, save.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71616" y="2331720"/>
            <a:ext cx="2542032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00216" y="2542032"/>
            <a:ext cx="2084832" cy="2834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2200" b="1" i="0">
                <a:solidFill>
                  <a:srgbClr val="FFC220"/>
                </a:solidFill>
                <a:latin typeface="Cambria"/>
              </a:rPr>
              <a:t>03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0B1C2C"/>
                </a:solidFill>
                <a:latin typeface="Cambria"/>
              </a:rPr>
              <a:t>You preview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5A6B78"/>
                </a:solidFill>
                <a:latin typeface="Calibri"/>
              </a:rPr>
              <a:t>See exactly what agents will experience in Enroller — before anything goes live.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95944" y="2331720"/>
            <a:ext cx="2542032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24544" y="2542032"/>
            <a:ext cx="2084832" cy="2834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2200" b="1" i="0">
                <a:solidFill>
                  <a:srgbClr val="FFC220"/>
                </a:solidFill>
                <a:latin typeface="Cambria"/>
              </a:rPr>
              <a:t>04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0B1C2C"/>
                </a:solidFill>
                <a:latin typeface="Cambria"/>
              </a:rPr>
              <a:t>You promote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5A6B78"/>
                </a:solidFill>
                <a:latin typeface="Calibri"/>
              </a:rPr>
              <a:t>Sandbox to production. One click. Changes are live immediately. Your timeline, not IT's.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715000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2D4A5E"/>
                </a:solidFill>
                <a:latin typeface="Calibri"/>
              </a:rPr>
              <a:t>The whole cycle — decision to live — in the time most platforms spend just getting to requirements.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0" y="502920"/>
            <a:ext cx="731520" cy="91440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713232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 spc="240">
                <a:solidFill>
                  <a:srgbClr val="FFC220"/>
                </a:solidFill>
                <a:latin typeface="Calibri"/>
              </a:rPr>
              <a:t>THE 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mbria"/>
              </a:rPr>
              <a:t>What the platform actually produces.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B9CED6"/>
                </a:solidFill>
                <a:latin typeface="Calibri"/>
              </a:rPr>
              <a:t>Real results from a production carrier deployment — not a pilot, not a projections slide.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834640"/>
            <a:ext cx="246888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000" b="1" i="0">
                <a:solidFill>
                  <a:srgbClr val="FFC220"/>
                </a:solidFill>
                <a:latin typeface="Cambria"/>
              </a:rPr>
              <a:t>235%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Year-over-year sales growth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2834640"/>
            <a:ext cx="246888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000" b="1" i="0">
                <a:solidFill>
                  <a:srgbClr val="FFC220"/>
                </a:solidFill>
                <a:latin typeface="Cambria"/>
              </a:rPr>
              <a:t>75%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Straight-through processing 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2834640"/>
            <a:ext cx="246888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000" b="1" i="0">
                <a:solidFill>
                  <a:srgbClr val="FFC220"/>
                </a:solidFill>
                <a:latin typeface="Cambria"/>
              </a:rPr>
              <a:t>37%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More applications per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0" y="2834640"/>
            <a:ext cx="246888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000" b="1" i="0">
                <a:solidFill>
                  <a:srgbClr val="FFC220"/>
                </a:solidFill>
                <a:latin typeface="Cambria"/>
              </a:rPr>
              <a:t>58%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More writing agents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800600"/>
            <a:ext cx="10533888" cy="1234440"/>
          </a:xfrm>
          <a:prstGeom prst="rect">
            <a:avLst/>
          </a:prstGeom>
          <a:solidFill>
            <a:srgbClr val="2D4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2960" y="4800600"/>
            <a:ext cx="73152" cy="1234440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43000" y="5029200"/>
            <a:ext cx="99669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1">
                <a:solidFill>
                  <a:srgbClr val="FFFFFF"/>
                </a:solidFill>
                <a:latin typeface="Cambria"/>
              </a:rPr>
              <a:t>“This is the easiest system I use compared to other carriers. Auto-underwriting is amazing.”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B9CED6"/>
                </a:solidFill>
                <a:latin typeface="Calibri"/>
              </a:rPr>
              <a:t>— Agent, Enroller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419088"/>
            <a:ext cx="548640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Cambria"/>
              </a:rPr>
              <a:t>Low</a:t>
            </a:r>
            <a:r>
              <a:rPr sz="1100" b="1">
                <a:solidFill>
                  <a:srgbClr val="FFC220"/>
                </a:solidFill>
                <a:latin typeface="Cambria"/>
              </a:rPr>
              <a:t>tech</a:t>
            </a:r>
            <a:r>
              <a:rPr sz="1000">
                <a:solidFill>
                  <a:srgbClr val="B9CED6"/>
                </a:solidFill>
                <a:latin typeface="Calibri"/>
              </a:rPr>
              <a:t>   Carrier Solutions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B9CED6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0" y="502920"/>
            <a:ext cx="731520" cy="91440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713232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 spc="240">
                <a:solidFill>
                  <a:srgbClr val="0B7A8C"/>
                </a:solidFill>
                <a:latin typeface="Calibri"/>
              </a:rPr>
              <a:t>PLATFORM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0B1C2C"/>
                </a:solidFill>
                <a:latin typeface="Cambria"/>
              </a:rPr>
              <a:t>Five products. One outcome.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19088"/>
            <a:ext cx="548640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100" b="1">
                <a:solidFill>
                  <a:srgbClr val="0B1C2C"/>
                </a:solidFill>
                <a:latin typeface="Cambria"/>
              </a:rPr>
              <a:t>Low</a:t>
            </a:r>
            <a:r>
              <a:rPr sz="1100" b="1">
                <a:solidFill>
                  <a:srgbClr val="FFC220"/>
                </a:solidFill>
                <a:latin typeface="Cambria"/>
              </a:rPr>
              <a:t>tech</a:t>
            </a:r>
            <a:r>
              <a:rPr sz="1000">
                <a:solidFill>
                  <a:srgbClr val="5A6B78"/>
                </a:solidFill>
                <a:latin typeface="Calibri"/>
              </a:rPr>
              <a:t>   Carrier Solutions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B78"/>
                </a:solidFill>
                <a:latin typeface="Calibri"/>
              </a:rP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286000"/>
            <a:ext cx="2011680" cy="3566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" y="2286000"/>
            <a:ext cx="2011680" cy="82296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2487168"/>
            <a:ext cx="1691640" cy="3291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C220"/>
                </a:solidFill>
                <a:latin typeface="Cambria"/>
              </a:rPr>
              <a:t>01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B1C2C"/>
                </a:solidFill>
                <a:latin typeface="Cambria"/>
              </a:rPr>
              <a:t>Orchestrator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A6B78"/>
                </a:solidFill>
                <a:latin typeface="Calibri"/>
              </a:rPr>
              <a:t>The configurability engine. Products, rules, screens, and API calls — configured by your business team. Drag, drop, done.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39796" y="2286000"/>
            <a:ext cx="2011680" cy="3566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939796" y="2286000"/>
            <a:ext cx="2011680" cy="82296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122676" y="2487168"/>
            <a:ext cx="1691640" cy="3291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C220"/>
                </a:solidFill>
                <a:latin typeface="Cambria"/>
              </a:rPr>
              <a:t>02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B1C2C"/>
                </a:solidFill>
                <a:latin typeface="Cambria"/>
              </a:rPr>
              <a:t>Enroller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A6B78"/>
                </a:solidFill>
                <a:latin typeface="Calibri"/>
              </a:rPr>
              <a:t>The e-app platform your agents use. First question to issued policy. Real-time decisions. No callback.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56632" y="2286000"/>
            <a:ext cx="2011680" cy="3566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056632" y="2286000"/>
            <a:ext cx="2011680" cy="82296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39512" y="2487168"/>
            <a:ext cx="1691640" cy="3291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C220"/>
                </a:solidFill>
                <a:latin typeface="Cambria"/>
              </a:rPr>
              <a:t>03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B1C2C"/>
                </a:solidFill>
                <a:latin typeface="Cambria"/>
              </a:rPr>
              <a:t>Pulse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A6B78"/>
                </a:solidFill>
                <a:latin typeface="Calibri"/>
              </a:rPr>
              <a:t>Executive analytics. Agent performance, pipeline health, STP rates. Live — not last week's report.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73468" y="2286000"/>
            <a:ext cx="2011680" cy="3566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173468" y="2286000"/>
            <a:ext cx="2011680" cy="82296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56348" y="2487168"/>
            <a:ext cx="1691640" cy="3291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C220"/>
                </a:solidFill>
                <a:latin typeface="Cambria"/>
              </a:rPr>
              <a:t>04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B1C2C"/>
                </a:solidFill>
                <a:latin typeface="Cambria"/>
              </a:rPr>
              <a:t>Engage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A6B78"/>
                </a:solidFill>
                <a:latin typeface="Calibri"/>
              </a:rPr>
              <a:t>Agent messaging, incentives, product matching, scanning, and lead routing. Every touchpoint covered.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90304" y="2286000"/>
            <a:ext cx="2011680" cy="3566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290304" y="2286000"/>
            <a:ext cx="2011680" cy="82296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473184" y="2487168"/>
            <a:ext cx="1691640" cy="3291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C220"/>
                </a:solidFill>
                <a:latin typeface="Cambria"/>
              </a:rPr>
              <a:t>05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B1C2C"/>
                </a:solidFill>
                <a:latin typeface="Cambria"/>
              </a:rPr>
              <a:t>Launchpad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A6B78"/>
                </a:solidFill>
                <a:latin typeface="Calibri"/>
              </a:rPr>
              <a:t>Implementation. From signed contract to live production in weeks — not months or years.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9893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2D4A5E"/>
                </a:solidFill>
                <a:latin typeface="Calibri"/>
              </a:rPr>
              <a:t>Nothing complicated.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0" y="502920"/>
            <a:ext cx="731520" cy="91440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713232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 spc="240">
                <a:solidFill>
                  <a:srgbClr val="0B7A8C"/>
                </a:solidFill>
                <a:latin typeface="Calibri"/>
              </a:rPr>
              <a:t>PLATFORM SUITE · DETAIL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0B1C2C"/>
                </a:solidFill>
                <a:latin typeface="Cambria"/>
              </a:rPr>
              <a:t>Orchestrator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19088"/>
            <a:ext cx="548640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100" b="1">
                <a:solidFill>
                  <a:srgbClr val="0B1C2C"/>
                </a:solidFill>
                <a:latin typeface="Cambria"/>
              </a:rPr>
              <a:t>Low</a:t>
            </a:r>
            <a:r>
              <a:rPr sz="1100" b="1">
                <a:solidFill>
                  <a:srgbClr val="FFC220"/>
                </a:solidFill>
                <a:latin typeface="Cambria"/>
              </a:rPr>
              <a:t>tech</a:t>
            </a:r>
            <a:r>
              <a:rPr sz="1000">
                <a:solidFill>
                  <a:srgbClr val="5A6B78"/>
                </a:solidFill>
                <a:latin typeface="Calibri"/>
              </a:rPr>
              <a:t>   Carrier Solutions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B78"/>
                </a:solidFill>
                <a:latin typeface="Calibri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1">
                <a:solidFill>
                  <a:srgbClr val="0B7A8C"/>
                </a:solidFill>
                <a:latin typeface="Cambria"/>
              </a:rPr>
              <a:t>The configurability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14600"/>
            <a:ext cx="6492240" cy="320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200" b="1" i="0">
                <a:solidFill>
                  <a:srgbClr val="FFC220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2D4A5E"/>
                </a:solidFill>
                <a:latin typeface="Calibri"/>
              </a:rPr>
              <a:t>Configure products, underwriting rules, screens, questions, and API calls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200" b="1" i="0">
                <a:solidFill>
                  <a:srgbClr val="FFC220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2D4A5E"/>
                </a:solidFill>
                <a:latin typeface="Calibri"/>
              </a:rPr>
              <a:t>A drag-and-drop studio built for business teams — no code, no manual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200" b="1" i="0">
                <a:solidFill>
                  <a:srgbClr val="FFC220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2D4A5E"/>
                </a:solidFill>
                <a:latin typeface="Calibri"/>
              </a:rPr>
              <a:t>Sandbox-to-production promotion in minutes, on your timeline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200" b="1" i="0">
                <a:solidFill>
                  <a:srgbClr val="FFC220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2D4A5E"/>
                </a:solidFill>
                <a:latin typeface="Calibri"/>
              </a:rPr>
              <a:t>New products, states, and distribution models without a rebuild</a:t>
            </a:r>
          </a:p>
        </p:txBody>
      </p:sp>
      <p:sp>
        <p:nvSpPr>
          <p:cNvPr id="9" name="Rectangle 8"/>
          <p:cNvSpPr/>
          <p:nvPr/>
        </p:nvSpPr>
        <p:spPr>
          <a:xfrm>
            <a:off x="7680960" y="2331720"/>
            <a:ext cx="3657600" cy="3566160"/>
          </a:xfrm>
          <a:prstGeom prst="rect">
            <a:avLst/>
          </a:prstGeom>
          <a:solidFill>
            <a:srgbClr val="0B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680960" y="2331720"/>
            <a:ext cx="73152" cy="3566160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73568" y="2606040"/>
            <a:ext cx="3200400" cy="310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100" b="1" i="0">
                <a:solidFill>
                  <a:srgbClr val="FFC220"/>
                </a:solidFill>
                <a:latin typeface="Calibri"/>
              </a:rPr>
              <a:t>WHO USES IT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FFFFFF"/>
                </a:solidFill>
                <a:latin typeface="Cambria"/>
              </a:rPr>
              <a:t>Your business team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100" b="1" i="0">
                <a:solidFill>
                  <a:srgbClr val="FFC220"/>
                </a:solidFill>
                <a:latin typeface="Calibri"/>
              </a:rPr>
              <a:t>THE OUTCOME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 i="1">
                <a:solidFill>
                  <a:srgbClr val="B9CED6"/>
                </a:solidFill>
                <a:latin typeface="Cambria"/>
              </a:rPr>
              <a:t>Change that used to take a quarter now takes an afternoon.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0" y="502920"/>
            <a:ext cx="731520" cy="91440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713232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 spc="240">
                <a:solidFill>
                  <a:srgbClr val="0B7A8C"/>
                </a:solidFill>
                <a:latin typeface="Calibri"/>
              </a:rPr>
              <a:t>PLATFORM SUITE · DETAIL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0B1C2C"/>
                </a:solidFill>
                <a:latin typeface="Cambria"/>
              </a:rPr>
              <a:t>Enroller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19088"/>
            <a:ext cx="548640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100" b="1">
                <a:solidFill>
                  <a:srgbClr val="0B1C2C"/>
                </a:solidFill>
                <a:latin typeface="Cambria"/>
              </a:rPr>
              <a:t>Low</a:t>
            </a:r>
            <a:r>
              <a:rPr sz="1100" b="1">
                <a:solidFill>
                  <a:srgbClr val="FFC220"/>
                </a:solidFill>
                <a:latin typeface="Cambria"/>
              </a:rPr>
              <a:t>tech</a:t>
            </a:r>
            <a:r>
              <a:rPr sz="1000">
                <a:solidFill>
                  <a:srgbClr val="5A6B78"/>
                </a:solidFill>
                <a:latin typeface="Calibri"/>
              </a:rPr>
              <a:t>   Carrier Solutions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B78"/>
                </a:solidFill>
                <a:latin typeface="Calibri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1">
                <a:solidFill>
                  <a:srgbClr val="0B7A8C"/>
                </a:solidFill>
                <a:latin typeface="Cambria"/>
              </a:rPr>
              <a:t>The point-of-sale e-app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14600"/>
            <a:ext cx="6492240" cy="320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200" b="1" i="0">
                <a:solidFill>
                  <a:srgbClr val="FFC220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2D4A5E"/>
                </a:solidFill>
                <a:latin typeface="Calibri"/>
              </a:rPr>
              <a:t>First question to issued policy in a single guided flow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200" b="1" i="0">
                <a:solidFill>
                  <a:srgbClr val="FFC220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2D4A5E"/>
                </a:solidFill>
                <a:latin typeface="Calibri"/>
              </a:rPr>
              <a:t>Real-time underwriting decisions at the point of sale — no callback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200" b="1" i="0">
                <a:solidFill>
                  <a:srgbClr val="FFC220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2D4A5E"/>
                </a:solidFill>
                <a:latin typeface="Calibri"/>
              </a:rPr>
              <a:t>Preview exactly what agents see before anything goes live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200" b="1" i="0">
                <a:solidFill>
                  <a:srgbClr val="FFC220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2D4A5E"/>
                </a:solidFill>
                <a:latin typeface="Calibri"/>
              </a:rPr>
              <a:t>The interface agents actually like to use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80960" y="2331720"/>
            <a:ext cx="3657600" cy="3566160"/>
          </a:xfrm>
          <a:prstGeom prst="rect">
            <a:avLst/>
          </a:prstGeom>
          <a:solidFill>
            <a:srgbClr val="0B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680960" y="2331720"/>
            <a:ext cx="73152" cy="3566160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73568" y="2606040"/>
            <a:ext cx="3200400" cy="310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100" b="1" i="0">
                <a:solidFill>
                  <a:srgbClr val="FFC220"/>
                </a:solidFill>
                <a:latin typeface="Calibri"/>
              </a:rPr>
              <a:t>WHO USES IT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FFFFFF"/>
                </a:solidFill>
                <a:latin typeface="Cambria"/>
              </a:rPr>
              <a:t>Your agents &amp; distribution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100" b="1" i="0">
                <a:solidFill>
                  <a:srgbClr val="FFC220"/>
                </a:solidFill>
                <a:latin typeface="Calibri"/>
              </a:rPr>
              <a:t>THE OUTCOME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 i="1">
                <a:solidFill>
                  <a:srgbClr val="B9CED6"/>
                </a:solidFill>
                <a:latin typeface="Cambria"/>
              </a:rPr>
              <a:t>37% more applications per agent. 58% more writing agents.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0" y="502920"/>
            <a:ext cx="731520" cy="91440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713232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 spc="240">
                <a:solidFill>
                  <a:srgbClr val="0B7A8C"/>
                </a:solidFill>
                <a:latin typeface="Calibri"/>
              </a:rPr>
              <a:t>PLATFORM SUITE · DETAIL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0B1C2C"/>
                </a:solidFill>
                <a:latin typeface="Cambria"/>
              </a:rPr>
              <a:t>Pulse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19088"/>
            <a:ext cx="548640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100" b="1">
                <a:solidFill>
                  <a:srgbClr val="0B1C2C"/>
                </a:solidFill>
                <a:latin typeface="Cambria"/>
              </a:rPr>
              <a:t>Low</a:t>
            </a:r>
            <a:r>
              <a:rPr sz="1100" b="1">
                <a:solidFill>
                  <a:srgbClr val="FFC220"/>
                </a:solidFill>
                <a:latin typeface="Cambria"/>
              </a:rPr>
              <a:t>tech</a:t>
            </a:r>
            <a:r>
              <a:rPr sz="1000">
                <a:solidFill>
                  <a:srgbClr val="5A6B78"/>
                </a:solidFill>
                <a:latin typeface="Calibri"/>
              </a:rPr>
              <a:t>   Carrier Solutions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B78"/>
                </a:solidFill>
                <a:latin typeface="Calibr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1">
                <a:solidFill>
                  <a:srgbClr val="0B7A8C"/>
                </a:solidFill>
                <a:latin typeface="Cambria"/>
              </a:rPr>
              <a:t>Executive analytics, live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14600"/>
            <a:ext cx="6492240" cy="320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200" b="1" i="0">
                <a:solidFill>
                  <a:srgbClr val="FFC220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2D4A5E"/>
                </a:solidFill>
                <a:latin typeface="Calibri"/>
              </a:rPr>
              <a:t>Straight-through-processing rate, pipeline health, and conversion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200" b="1" i="0">
                <a:solidFill>
                  <a:srgbClr val="FFC220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2D4A5E"/>
                </a:solidFill>
                <a:latin typeface="Calibri"/>
              </a:rPr>
              <a:t>Agent performance and production leaderboards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200" b="1" i="0">
                <a:solidFill>
                  <a:srgbClr val="FFC220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2D4A5E"/>
                </a:solidFill>
                <a:latin typeface="Calibri"/>
              </a:rPr>
              <a:t>Live dashboards — not last week's report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200" b="1" i="0">
                <a:solidFill>
                  <a:srgbClr val="FFC220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2D4A5E"/>
                </a:solidFill>
                <a:latin typeface="Calibri"/>
              </a:rPr>
              <a:t>The numbers leadership needs to steer, in real time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80960" y="2331720"/>
            <a:ext cx="3657600" cy="3566160"/>
          </a:xfrm>
          <a:prstGeom prst="rect">
            <a:avLst/>
          </a:prstGeom>
          <a:solidFill>
            <a:srgbClr val="0B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680960" y="2331720"/>
            <a:ext cx="73152" cy="3566160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73568" y="2606040"/>
            <a:ext cx="3200400" cy="310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100" b="1" i="0">
                <a:solidFill>
                  <a:srgbClr val="FFC220"/>
                </a:solidFill>
                <a:latin typeface="Calibri"/>
              </a:rPr>
              <a:t>WHO USES IT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FFFFFF"/>
                </a:solidFill>
                <a:latin typeface="Cambria"/>
              </a:rPr>
              <a:t>Leadership &amp; operations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100" b="1" i="0">
                <a:solidFill>
                  <a:srgbClr val="FFC220"/>
                </a:solidFill>
                <a:latin typeface="Calibri"/>
              </a:rPr>
              <a:t>THE OUTCOME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 i="1">
                <a:solidFill>
                  <a:srgbClr val="B9CED6"/>
                </a:solidFill>
                <a:latin typeface="Cambria"/>
              </a:rPr>
              <a:t>Decisions made on what's happening now, not what happened last month.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0" y="502920"/>
            <a:ext cx="731520" cy="91440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713232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 spc="240">
                <a:solidFill>
                  <a:srgbClr val="0B7A8C"/>
                </a:solidFill>
                <a:latin typeface="Calibri"/>
              </a:rPr>
              <a:t>PLATFORM SUITE · DETAIL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0B1C2C"/>
                </a:solidFill>
                <a:latin typeface="Cambria"/>
              </a:rPr>
              <a:t>Engage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19088"/>
            <a:ext cx="548640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100" b="1">
                <a:solidFill>
                  <a:srgbClr val="0B1C2C"/>
                </a:solidFill>
                <a:latin typeface="Cambria"/>
              </a:rPr>
              <a:t>Low</a:t>
            </a:r>
            <a:r>
              <a:rPr sz="1100" b="1">
                <a:solidFill>
                  <a:srgbClr val="FFC220"/>
                </a:solidFill>
                <a:latin typeface="Cambria"/>
              </a:rPr>
              <a:t>tech</a:t>
            </a:r>
            <a:r>
              <a:rPr sz="1000">
                <a:solidFill>
                  <a:srgbClr val="5A6B78"/>
                </a:solidFill>
                <a:latin typeface="Calibri"/>
              </a:rPr>
              <a:t>   Carrier Solutions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B78"/>
                </a:solidFill>
                <a:latin typeface="Calibr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1">
                <a:solidFill>
                  <a:srgbClr val="0B7A8C"/>
                </a:solidFill>
                <a:latin typeface="Cambria"/>
              </a:rPr>
              <a:t>The agent engagement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14600"/>
            <a:ext cx="6492240" cy="320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200" b="1" i="0">
                <a:solidFill>
                  <a:srgbClr val="FFC220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2D4A5E"/>
                </a:solidFill>
                <a:latin typeface="Calibri"/>
              </a:rPr>
              <a:t>Agent messaging, incentives, and contests that drive behavior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200" b="1" i="0">
                <a:solidFill>
                  <a:srgbClr val="FFC220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2D4A5E"/>
                </a:solidFill>
                <a:latin typeface="Calibri"/>
              </a:rPr>
              <a:t>Product matching (MatchIQ) to put the right coverage in front of each client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200" b="1" i="0">
                <a:solidFill>
                  <a:srgbClr val="FFC220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2D4A5E"/>
                </a:solidFill>
                <a:latin typeface="Calibri"/>
              </a:rPr>
              <a:t>Application scanning and clean data capture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200" b="1" i="0">
                <a:solidFill>
                  <a:srgbClr val="FFC220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2D4A5E"/>
                </a:solidFill>
                <a:latin typeface="Calibri"/>
              </a:rPr>
              <a:t>Lead routing that gets opportunities to the right agent fast</a:t>
            </a:r>
          </a:p>
        </p:txBody>
      </p:sp>
      <p:sp>
        <p:nvSpPr>
          <p:cNvPr id="9" name="Rectangle 8"/>
          <p:cNvSpPr/>
          <p:nvPr/>
        </p:nvSpPr>
        <p:spPr>
          <a:xfrm>
            <a:off x="7680960" y="2331720"/>
            <a:ext cx="3657600" cy="3566160"/>
          </a:xfrm>
          <a:prstGeom prst="rect">
            <a:avLst/>
          </a:prstGeom>
          <a:solidFill>
            <a:srgbClr val="0B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680960" y="2331720"/>
            <a:ext cx="73152" cy="3566160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73568" y="2606040"/>
            <a:ext cx="3200400" cy="310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100" b="1" i="0">
                <a:solidFill>
                  <a:srgbClr val="FFC220"/>
                </a:solidFill>
                <a:latin typeface="Calibri"/>
              </a:rPr>
              <a:t>WHO USES IT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FFFFFF"/>
                </a:solidFill>
                <a:latin typeface="Cambria"/>
              </a:rPr>
              <a:t>Your whole distribution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100" b="1" i="0">
                <a:solidFill>
                  <a:srgbClr val="FFC220"/>
                </a:solidFill>
                <a:latin typeface="Calibri"/>
              </a:rPr>
              <a:t>THE OUTCOME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 i="1">
                <a:solidFill>
                  <a:srgbClr val="B9CED6"/>
                </a:solidFill>
                <a:latin typeface="Cambria"/>
              </a:rPr>
              <a:t>Every touchpoint covered — engagement that compounds into growth.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0" y="502920"/>
            <a:ext cx="731520" cy="91440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713232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 spc="240">
                <a:solidFill>
                  <a:srgbClr val="0B7A8C"/>
                </a:solidFill>
                <a:latin typeface="Calibri"/>
              </a:rPr>
              <a:t>PLATFORM SUITE · DETAIL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0B1C2C"/>
                </a:solidFill>
                <a:latin typeface="Cambria"/>
              </a:rPr>
              <a:t>Launchpad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19088"/>
            <a:ext cx="548640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100" b="1">
                <a:solidFill>
                  <a:srgbClr val="0B1C2C"/>
                </a:solidFill>
                <a:latin typeface="Cambria"/>
              </a:rPr>
              <a:t>Low</a:t>
            </a:r>
            <a:r>
              <a:rPr sz="1100" b="1">
                <a:solidFill>
                  <a:srgbClr val="FFC220"/>
                </a:solidFill>
                <a:latin typeface="Cambria"/>
              </a:rPr>
              <a:t>tech</a:t>
            </a:r>
            <a:r>
              <a:rPr sz="1000">
                <a:solidFill>
                  <a:srgbClr val="5A6B78"/>
                </a:solidFill>
                <a:latin typeface="Calibri"/>
              </a:rPr>
              <a:t>   Carrier Solutions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B78"/>
                </a:solidFill>
                <a:latin typeface="Calibr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1">
                <a:solidFill>
                  <a:srgbClr val="0B7A8C"/>
                </a:solidFill>
                <a:latin typeface="Cambria"/>
              </a:rPr>
              <a:t>Implementation, handled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14600"/>
            <a:ext cx="6492240" cy="320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200" b="1" i="0">
                <a:solidFill>
                  <a:srgbClr val="FFC220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2D4A5E"/>
                </a:solidFill>
                <a:latin typeface="Calibri"/>
              </a:rPr>
              <a:t>From signed contract to live production in weeks, not months or years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200" b="1" i="0">
                <a:solidFill>
                  <a:srgbClr val="FFC220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2D4A5E"/>
                </a:solidFill>
                <a:latin typeface="Calibri"/>
              </a:rPr>
              <a:t>A proven path that gets your product to market fast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200" b="1" i="0">
                <a:solidFill>
                  <a:srgbClr val="FFC220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2D4A5E"/>
                </a:solidFill>
                <a:latin typeface="Calibri"/>
              </a:rPr>
              <a:t>Configuration handed to your team — so you own it after go-live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200" b="1" i="0">
                <a:solidFill>
                  <a:srgbClr val="FFC220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2D4A5E"/>
                </a:solidFill>
                <a:latin typeface="Calibri"/>
              </a:rPr>
              <a:t>Additive to what you already run; live and producing in weeks.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680960" y="2331720"/>
            <a:ext cx="3657600" cy="3566160"/>
          </a:xfrm>
          <a:prstGeom prst="rect">
            <a:avLst/>
          </a:prstGeom>
          <a:solidFill>
            <a:srgbClr val="0B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680960" y="2331720"/>
            <a:ext cx="73152" cy="3566160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73568" y="2606040"/>
            <a:ext cx="3200400" cy="310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100" b="1" i="0">
                <a:solidFill>
                  <a:srgbClr val="FFC220"/>
                </a:solidFill>
                <a:latin typeface="Calibri"/>
              </a:rPr>
              <a:t>WHO USES IT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FFFFFF"/>
                </a:solidFill>
                <a:latin typeface="Cambria"/>
              </a:rPr>
              <a:t>You + our team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100" b="1" i="0">
                <a:solidFill>
                  <a:srgbClr val="FFC220"/>
                </a:solidFill>
                <a:latin typeface="Calibri"/>
              </a:rPr>
              <a:t>THE OUTCOME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 i="1">
                <a:solidFill>
                  <a:srgbClr val="B9CED6"/>
                </a:solidFill>
                <a:latin typeface="Cambria"/>
              </a:rPr>
              <a:t>Live in weeks — and independent from day one.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0" y="548640"/>
            <a:ext cx="731520" cy="91440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 spc="240">
                <a:solidFill>
                  <a:srgbClr val="FFC220"/>
                </a:solidFill>
                <a:latin typeface="Calibri"/>
              </a:rPr>
              <a:t>LEADERSHIP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mbria"/>
              </a:rPr>
              <a:t>The team behind the platform.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377440"/>
            <a:ext cx="2542032" cy="2011680"/>
          </a:xfrm>
          <a:prstGeom prst="rect">
            <a:avLst/>
          </a:prstGeom>
          <a:solidFill>
            <a:srgbClr val="2D4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2377440"/>
            <a:ext cx="2542032" cy="82296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128" y="2606040"/>
            <a:ext cx="2139696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Matt Johnson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C220"/>
                </a:solidFill>
                <a:latin typeface="Calibri"/>
              </a:rPr>
              <a:t>CEO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B9CED6"/>
                </a:solidFill>
                <a:latin typeface="Calibri"/>
              </a:rPr>
              <a:t>Former Chief Actuary &amp; VP Strategy</a:t>
            </a:r>
          </a:p>
        </p:txBody>
      </p:sp>
      <p:sp>
        <p:nvSpPr>
          <p:cNvPr id="8" name="Rectangle 7"/>
          <p:cNvSpPr/>
          <p:nvPr/>
        </p:nvSpPr>
        <p:spPr>
          <a:xfrm>
            <a:off x="3447288" y="2377440"/>
            <a:ext cx="2542032" cy="2011680"/>
          </a:xfrm>
          <a:prstGeom prst="rect">
            <a:avLst/>
          </a:prstGeom>
          <a:solidFill>
            <a:srgbClr val="2D4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447288" y="2377440"/>
            <a:ext cx="2542032" cy="82296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48456" y="2606040"/>
            <a:ext cx="2139696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Bill Butters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C220"/>
                </a:solidFill>
                <a:latin typeface="Calibri"/>
              </a:rPr>
              <a:t>CTO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B9CED6"/>
                </a:solidFill>
                <a:latin typeface="Calibri"/>
              </a:rPr>
              <a:t>Platform Architect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71616" y="2377440"/>
            <a:ext cx="2542032" cy="2011680"/>
          </a:xfrm>
          <a:prstGeom prst="rect">
            <a:avLst/>
          </a:prstGeom>
          <a:solidFill>
            <a:srgbClr val="2D4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071616" y="2377440"/>
            <a:ext cx="2542032" cy="82296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72784" y="2606040"/>
            <a:ext cx="2139696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Dave Keith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C220"/>
                </a:solidFill>
                <a:latin typeface="Calibri"/>
              </a:rPr>
              <a:t>Strategic Advisor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B9CED6"/>
                </a:solidFill>
                <a:latin typeface="Calibri"/>
              </a:rPr>
              <a:t>Co-founded SE2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95944" y="2377440"/>
            <a:ext cx="2542032" cy="2011680"/>
          </a:xfrm>
          <a:prstGeom prst="rect">
            <a:avLst/>
          </a:prstGeom>
          <a:solidFill>
            <a:srgbClr val="2D4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695944" y="2377440"/>
            <a:ext cx="2542032" cy="82296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897112" y="2606040"/>
            <a:ext cx="2139696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Todd Nevenhoven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C220"/>
                </a:solidFill>
                <a:latin typeface="Calibri"/>
              </a:rPr>
              <a:t>Operating Advisor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B9CED6"/>
                </a:solidFill>
                <a:latin typeface="Calibri"/>
              </a:rPr>
              <a:t>Carrier &amp; TPA Operations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4754880"/>
            <a:ext cx="10533888" cy="1234440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43000" y="4983480"/>
            <a:ext cx="100584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0B1C2C"/>
                </a:solidFill>
                <a:latin typeface="Cambria"/>
              </a:rPr>
              <a:t>Technology made simple. Growth made exponential.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B1C2C"/>
                </a:solidFill>
                <a:latin typeface="Calibri"/>
              </a:rPr>
              <a:t>Lowtech Carrier Solutions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6419088"/>
            <a:ext cx="548640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Cambria"/>
              </a:rPr>
              <a:t>Low</a:t>
            </a:r>
            <a:r>
              <a:rPr sz="1100" b="1">
                <a:solidFill>
                  <a:srgbClr val="FFC220"/>
                </a:solidFill>
                <a:latin typeface="Cambria"/>
              </a:rPr>
              <a:t>tech</a:t>
            </a:r>
            <a:r>
              <a:rPr sz="1000">
                <a:solidFill>
                  <a:srgbClr val="B9CED6"/>
                </a:solidFill>
                <a:latin typeface="Calibri"/>
              </a:rPr>
              <a:t>   Carrier Solutions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B9CED6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1183</Words>
  <Application>Microsoft Office PowerPoint</Application>
  <PresentationFormat>Widescreen</PresentationFormat>
  <Paragraphs>182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Matt Johnson</cp:lastModifiedBy>
  <cp:revision>1</cp:revision>
  <dcterms:created xsi:type="dcterms:W3CDTF">2013-01-27T09:14:16Z</dcterms:created>
  <dcterms:modified xsi:type="dcterms:W3CDTF">2026-07-01T13:20:48Z</dcterms:modified>
  <cp:category/>
</cp:coreProperties>
</file>