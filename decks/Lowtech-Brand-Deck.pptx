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503920" y="0"/>
            <a:ext cx="3687775" cy="685800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503920" y="0"/>
            <a:ext cx="54864" cy="68580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1005840" cy="100584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486400" cy="138988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7600" b="1">
                <a:solidFill>
                  <a:srgbClr val="FFFFFF"/>
                </a:solidFill>
                <a:latin typeface="Cambria"/>
              </a:rPr>
              <a:t>Low</a:t>
            </a:r>
            <a:r>
              <a:rPr sz="7600" b="1">
                <a:solidFill>
                  <a:srgbClr val="FFC220"/>
                </a:solidFill>
                <a:latin typeface="Cambria"/>
              </a:rPr>
              <a:t>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300">
                <a:solidFill>
                  <a:srgbClr val="FFC220"/>
                </a:solidFill>
                <a:latin typeface="Calibri"/>
              </a:rPr>
              <a:t>BRAND DECK · CARRIER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73152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So simple it feels like cheating.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7223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B9CED6"/>
                </a:solidFill>
                <a:latin typeface="Calibri"/>
              </a:rPr>
              <a:t>Lowtech Carrier Solutions — a carrier platform where the technology stays out of your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651760"/>
            <a:ext cx="31089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Technology made simple.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C220"/>
                </a:solidFill>
                <a:latin typeface="Cambria"/>
              </a:rPr>
              <a:t>Growth made exponential.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B9CED6"/>
                </a:solidFill>
                <a:latin typeface="Calibri"/>
              </a:rPr>
              <a:t>   Carrier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The name is the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4937760" cy="196596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73152" cy="19659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4480560" cy="7403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200" b="1" dirty="0" err="1">
                <a:solidFill>
                  <a:srgbClr val="FFFFFF"/>
                </a:solidFill>
                <a:latin typeface="Cambria"/>
              </a:rPr>
              <a:t>L</a:t>
            </a:r>
            <a:r>
              <a:rPr sz="2200" b="1" i="0" dirty="0" err="1">
                <a:solidFill>
                  <a:srgbClr val="FFFFFF"/>
                </a:solidFill>
                <a:latin typeface="Cambria"/>
              </a:rPr>
              <a:t>owtech</a:t>
            </a:r>
            <a:r>
              <a:rPr sz="2200" b="1" i="0" dirty="0">
                <a:solidFill>
                  <a:srgbClr val="FFFFFF"/>
                </a:solidFill>
                <a:latin typeface="Cambria"/>
              </a:rPr>
              <a:t>  </a:t>
            </a:r>
            <a:r>
              <a:rPr sz="1500" b="0" i="1" dirty="0">
                <a:solidFill>
                  <a:srgbClr val="B9CED6"/>
                </a:solidFill>
                <a:latin typeface="Calibri"/>
              </a:rPr>
              <a:t>(adj.)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1" dirty="0">
                <a:solidFill>
                  <a:srgbClr val="FFC220"/>
                </a:solidFill>
                <a:latin typeface="Cambria"/>
              </a:rPr>
              <a:t>So simple it feels like cheating.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Low·tek  —  two syllables, stress on the first.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40280"/>
            <a:ext cx="5212080" cy="27547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 dirty="0">
                <a:solidFill>
                  <a:srgbClr val="2D4A5E"/>
                </a:solidFill>
                <a:latin typeface="Calibri"/>
              </a:rPr>
              <a:t>Every other </a:t>
            </a:r>
            <a:r>
              <a:rPr sz="1400" b="0" i="0" dirty="0" err="1">
                <a:solidFill>
                  <a:srgbClr val="2D4A5E"/>
                </a:solidFill>
                <a:latin typeface="Calibri"/>
              </a:rPr>
              <a:t>insurtech</a:t>
            </a:r>
            <a:r>
              <a:rPr sz="1400" b="0" i="0" dirty="0">
                <a:solidFill>
                  <a:srgbClr val="2D4A5E"/>
                </a:solidFill>
                <a:latin typeface="Calibri"/>
              </a:rPr>
              <a:t> leads with how advanced its technology is — AI, machine learning, API-first. They make the technology the hero.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 dirty="0">
                <a:solidFill>
                  <a:srgbClr val="0B1C2C"/>
                </a:solidFill>
                <a:latin typeface="Cambria"/>
              </a:rPr>
              <a:t>We flip that.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 dirty="0">
                <a:solidFill>
                  <a:srgbClr val="2D4A5E"/>
                </a:solidFill>
                <a:latin typeface="Calibri"/>
              </a:rPr>
              <a:t>If using </a:t>
            </a:r>
            <a:r>
              <a:rPr sz="1400" b="0" i="0" dirty="0" err="1">
                <a:solidFill>
                  <a:srgbClr val="2D4A5E"/>
                </a:solidFill>
                <a:latin typeface="Calibri"/>
              </a:rPr>
              <a:t>Lowtech</a:t>
            </a:r>
            <a:r>
              <a:rPr sz="1400" b="0" i="0" dirty="0">
                <a:solidFill>
                  <a:srgbClr val="2D4A5E"/>
                </a:solidFill>
                <a:latin typeface="Calibri"/>
              </a:rPr>
              <a:t> feels low-tech to the people running the carrier, we did our job. Your </a:t>
            </a:r>
            <a:r>
              <a:rPr lang="en-US" sz="1400" b="0" i="0" dirty="0">
                <a:solidFill>
                  <a:srgbClr val="2D4A5E"/>
                </a:solidFill>
                <a:latin typeface="Calibri"/>
              </a:rPr>
              <a:t>business</a:t>
            </a:r>
            <a:r>
              <a:rPr sz="1400" b="0" i="0" dirty="0">
                <a:solidFill>
                  <a:srgbClr val="2D4A5E"/>
                </a:solidFill>
                <a:latin typeface="Calibri"/>
              </a:rPr>
              <a:t> team configures everything — no engineers, no release cycles, no IT tickets.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1" i="0" dirty="0">
                <a:solidFill>
                  <a:srgbClr val="0B1C2C"/>
                </a:solidFill>
                <a:latin typeface="Cambria"/>
              </a:rPr>
              <a:t>The technology disappears. The results don't.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 dirty="0">
                <a:solidFill>
                  <a:srgbClr val="2D4A5E"/>
                </a:solidFill>
                <a:latin typeface="Calibri"/>
              </a:rPr>
              <a:t>The sophistication is real — it just lives in the engine room, not in your hands. That is the whole idea of the name.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Every carrier has the same 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470916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rate change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Should take a week. Takes a quarter. Most platforms weren't built to move at your speed.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21945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44768" y="21945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2395728"/>
            <a:ext cx="470916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product launch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Should take a month. Takes a year. Because the system can't handle it without a rebuild.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947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37947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3995928"/>
            <a:ext cx="470916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rule update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Six weeks, minimum. The change itself takes an hour. The process around it takes the rest.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3794760"/>
            <a:ext cx="5212080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44768" y="3794760"/>
            <a:ext cx="73152" cy="14813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9088" y="3995928"/>
            <a:ext cx="470916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new state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Your distribution wants to expand. Your technology says wait until next year.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486400"/>
            <a:ext cx="10533888" cy="566928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5486400"/>
            <a:ext cx="73152" cy="56692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568696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None of this is inevitable. It's just what happens when the platform wasn't built for the people who run the carrier.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One platform. Three ways it changes your business.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2395728"/>
            <a:ext cx="2788920" cy="1702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 dirty="0">
                <a:solidFill>
                  <a:srgbClr val="0B1C2C"/>
                </a:solidFill>
                <a:latin typeface="Cambria"/>
              </a:rPr>
              <a:t>Orchestrator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 dirty="0">
                <a:solidFill>
                  <a:srgbClr val="0B7A8C"/>
                </a:solidFill>
                <a:latin typeface="Calibri"/>
              </a:rPr>
              <a:t>EASY TO DEPLOY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5A6B78"/>
                </a:solidFill>
                <a:latin typeface="Calibri"/>
              </a:rPr>
              <a:t>The configurability engine. Your </a:t>
            </a:r>
            <a:r>
              <a:rPr lang="en-US" sz="1200" b="0" i="0" dirty="0">
                <a:solidFill>
                  <a:srgbClr val="5A6B78"/>
                </a:solidFill>
                <a:latin typeface="Calibri"/>
              </a:rPr>
              <a:t>business</a:t>
            </a:r>
            <a:r>
              <a:rPr sz="1200" b="0" i="0" dirty="0">
                <a:solidFill>
                  <a:srgbClr val="5A6B78"/>
                </a:solidFill>
                <a:latin typeface="Calibri"/>
              </a:rPr>
              <a:t> team configures products, underwriting rules, screens, questions, and API calls through a drag-and-drop studio. No code. Sandbox to production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15968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395728"/>
            <a:ext cx="27889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0B1C2C"/>
                </a:solidFill>
                <a:latin typeface="Cambria"/>
              </a:rPr>
              <a:t>Enroller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B7A8C"/>
                </a:solidFill>
                <a:latin typeface="Calibri"/>
              </a:rPr>
              <a:t>FUELS GROWTH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The point-of-sale e-app your agents use. First question to issued policy, with real-time underwriting decisions at the point of sale. No callback, no delay — more applications, more writing agents.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8975" y="2194560"/>
            <a:ext cx="3291840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08975" y="2194560"/>
            <a:ext cx="329184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007" y="2395728"/>
            <a:ext cx="27889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0B1C2C"/>
                </a:solidFill>
                <a:latin typeface="Cambria"/>
              </a:rPr>
              <a:t>Engagement Suite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B7A8C"/>
                </a:solidFill>
                <a:latin typeface="Calibri"/>
              </a:rPr>
              <a:t>FUELS INTELLIGENCE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5A6B78"/>
                </a:solidFill>
                <a:latin typeface="Calibri"/>
              </a:rPr>
              <a:t>Pulse + Engage. Executive analytics on STP, pipeline, and agent performance — live. Plus agent messaging, incentives, product matching, scanning, and lead routing. Decision-making and engagement, compounding.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68112"/>
            <a:ext cx="10533888" cy="603504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5468112"/>
            <a:ext cx="73152" cy="603504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5541264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Deploy fast. Sell at the point of sale. Compound growth with intelligence and engagement — all run by the carrier's own team.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PLATFORM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Five products. One outcome.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87168"/>
            <a:ext cx="1691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Orchestrator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The configurability engine. Products, rules, screens, and API calls — configured by your business team. Drag, drop, done.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39796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939796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22676" y="2487168"/>
            <a:ext cx="1691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Enroller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The e-app platform your agents use. First question to issued policy. Real-time decisions. No callback.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6632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56632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39512" y="2487168"/>
            <a:ext cx="1691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Pulse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Executive analytics. Agent performance, pipeline health, STP rates. Live — not last week's report.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3468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73468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56348" y="2487168"/>
            <a:ext cx="1691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04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Engage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Agent messaging, incentives, product matching, scanning, and lead routing. Every touchpoint covered.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90304" y="2286000"/>
            <a:ext cx="2011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290304" y="2286000"/>
            <a:ext cx="2011680" cy="822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73184" y="2487168"/>
            <a:ext cx="169164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C220"/>
                </a:solidFill>
                <a:latin typeface="Cambria"/>
              </a:rPr>
              <a:t>05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1C2C"/>
                </a:solidFill>
                <a:latin typeface="Cambria"/>
              </a:rPr>
              <a:t>Launchpad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Implementation. From signed contract to live production in weeks — not months or years.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D4A5E"/>
                </a:solidFill>
                <a:latin typeface="Calibri"/>
              </a:rPr>
              <a:t>Nothing complicated.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BRAND CHARACTER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What Lowtech is. What it isn't.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24028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44144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Simple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The interface is clean, the experience clear. Complexity lives in the engine room, not the user's hands.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224028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15968" y="224028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44144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Confident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We don't explain ourselves with jargon. We show what the platform does and let the results talk.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8975" y="224028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08975" y="224028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83295" y="244144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Operator-side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We're on the carrier's side — not the vendor's, not the consultant's. We want you to win.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1480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11480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Invisible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The best technology is the kind you forget is there. You do your job; it does its job.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411480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15968" y="411480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90288" y="431596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Direct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No consulting speak, no complexity theater. We say what we mean and deliver what we say.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08975" y="4114800"/>
            <a:ext cx="3291840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08975" y="4114800"/>
            <a:ext cx="73152" cy="16916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3295" y="4315968"/>
            <a:ext cx="278892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Earned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Built by people who ran a carrier and felt the friction firsthand. Every decision came from that.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BRAND VOICE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What Lowtech sounds like.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4846320" cy="365760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73152" cy="36576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4206240" cy="111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dirty="0">
                <a:solidFill>
                  <a:schemeClr val="bg1"/>
                </a:solidFill>
                <a:latin typeface="Calibri"/>
              </a:rPr>
              <a:t>PRIMARY TAGLINE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2600" b="1" i="0" dirty="0">
                <a:solidFill>
                  <a:srgbClr val="FFC220"/>
                </a:solidFill>
                <a:latin typeface="Cambria"/>
              </a:rPr>
              <a:t>So simple it feels like cheating</a:t>
            </a:r>
            <a:r>
              <a:rPr sz="2600" b="1" i="0" dirty="0">
                <a:solidFill>
                  <a:srgbClr val="FFC220"/>
                </a:solidFill>
                <a:latin typeface="Cambria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286000"/>
            <a:ext cx="5303520" cy="433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 dirty="0">
                <a:solidFill>
                  <a:srgbClr val="0B7A8C"/>
                </a:solidFill>
                <a:latin typeface="Calibri"/>
              </a:rPr>
              <a:t>CREDIBILITY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 dirty="0">
                <a:solidFill>
                  <a:srgbClr val="0B1C2C"/>
                </a:solidFill>
                <a:latin typeface="Cambria"/>
              </a:rPr>
              <a:t>Built by engineers. Fe</a:t>
            </a:r>
            <a:r>
              <a:rPr lang="en-US" sz="1600" b="1" i="0" dirty="0">
                <a:solidFill>
                  <a:srgbClr val="0B1C2C"/>
                </a:solidFill>
                <a:latin typeface="Cambria"/>
              </a:rPr>
              <a:t>els</a:t>
            </a:r>
            <a:r>
              <a:rPr sz="1600" b="1" i="0" dirty="0">
                <a:solidFill>
                  <a:srgbClr val="0B1C2C"/>
                </a:solidFill>
                <a:latin typeface="Cambria"/>
              </a:rPr>
              <a:t> like magic </a:t>
            </a:r>
            <a:r>
              <a:rPr lang="en-US" sz="1600" b="1" i="0" dirty="0">
                <a:solidFill>
                  <a:srgbClr val="0B1C2C"/>
                </a:solidFill>
                <a:latin typeface="Cambria"/>
              </a:rPr>
              <a:t>to</a:t>
            </a:r>
            <a:r>
              <a:rPr sz="1600" b="1" i="0" dirty="0">
                <a:solidFill>
                  <a:srgbClr val="0B1C2C"/>
                </a:solidFill>
                <a:latin typeface="Cambria"/>
              </a:rPr>
              <a:t> everyone else.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044952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A8C"/>
                </a:solidFill>
                <a:latin typeface="Calibri"/>
              </a:rPr>
              <a:t>SIMPLICITY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No developers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803904"/>
            <a:ext cx="5303520" cy="433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 dirty="0">
                <a:solidFill>
                  <a:srgbClr val="0B7A8C"/>
                </a:solidFill>
                <a:latin typeface="Calibri"/>
              </a:rPr>
              <a:t>EXPERIENCE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i="0" dirty="0">
                <a:solidFill>
                  <a:srgbClr val="0B1C2C"/>
                </a:solidFill>
                <a:latin typeface="Cambria"/>
              </a:rPr>
              <a:t>Technology made simple. Growth made exponential.</a:t>
            </a:r>
            <a:endParaRPr sz="1600" b="1" i="0" dirty="0">
              <a:solidFill>
                <a:srgbClr val="0B1C2C"/>
              </a:solidFill>
              <a:latin typeface="Cambria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35040" y="4562856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A8C"/>
                </a:solidFill>
                <a:latin typeface="Calibri"/>
              </a:rPr>
              <a:t>ORIGIN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The platform that makes complexity disappear.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321808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A8C"/>
                </a:solidFill>
                <a:latin typeface="Calibri"/>
              </a:rPr>
              <a:t>OWNERSHIP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C2C"/>
                </a:solidFill>
                <a:latin typeface="Cambria"/>
              </a:rPr>
              <a:t>Your business team. Your rules. Your market.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26280"/>
            <a:ext cx="4160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FFC220"/>
                </a:solidFill>
                <a:latin typeface="Calibri"/>
              </a:rPr>
              <a:t>ALTERNATE DIRECTIONS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mbria"/>
              </a:rPr>
              <a:t>Simple to run. Built to grow.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B9CED6"/>
                </a:solidFill>
                <a:latin typeface="Cambria"/>
              </a:rPr>
              <a:t>Simple technology. Exponential results.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731520" cy="9144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 spc="240">
                <a:solidFill>
                  <a:srgbClr val="0B7A8C"/>
                </a:solidFill>
                <a:latin typeface="Calibri"/>
              </a:rPr>
              <a:t>VISUAL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B1C2C"/>
                </a:solidFill>
                <a:latin typeface="Cambria"/>
              </a:rPr>
              <a:t>Color &amp; Typography.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19088"/>
            <a:ext cx="548640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 b="1">
                <a:solidFill>
                  <a:srgbClr val="0B1C2C"/>
                </a:solidFill>
                <a:latin typeface="Cambria"/>
              </a:rPr>
              <a:t>Low</a:t>
            </a:r>
            <a:r>
              <a:rPr sz="1100" b="1">
                <a:solidFill>
                  <a:srgbClr val="FFC220"/>
                </a:solidFill>
                <a:latin typeface="Cambria"/>
              </a:rPr>
              <a:t>tech</a:t>
            </a:r>
            <a:r>
              <a:rPr sz="1000">
                <a:solidFill>
                  <a:srgbClr val="5A6B78"/>
                </a:solidFill>
                <a:latin typeface="Calibri"/>
              </a:rPr>
              <a:t>   Carrier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B7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86000"/>
            <a:ext cx="1417320" cy="1645920"/>
          </a:xfrm>
          <a:prstGeom prst="rect">
            <a:avLst/>
          </a:prstGeom>
          <a:solidFill>
            <a:srgbClr val="0B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Ink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#0B1C2C</a:t>
            </a:r>
          </a:p>
        </p:txBody>
      </p:sp>
      <p:sp>
        <p:nvSpPr>
          <p:cNvPr id="9" name="Rectangle 8"/>
          <p:cNvSpPr/>
          <p:nvPr/>
        </p:nvSpPr>
        <p:spPr>
          <a:xfrm>
            <a:off x="2318004" y="2286000"/>
            <a:ext cx="1417320" cy="1645920"/>
          </a:xfrm>
          <a:prstGeom prst="rect">
            <a:avLst/>
          </a:prstGeom>
          <a:solidFill>
            <a:srgbClr val="0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18004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Teal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#0B7A8C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3048" y="2286000"/>
            <a:ext cx="1417320" cy="1645920"/>
          </a:xfrm>
          <a:prstGeom prst="rect">
            <a:avLst/>
          </a:prstGeom>
          <a:solidFill>
            <a:srgbClr val="12B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13048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Gate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#12B5CC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8092" y="2286000"/>
            <a:ext cx="1417320" cy="1645920"/>
          </a:xfrm>
          <a:prstGeom prst="rect">
            <a:avLst/>
          </a:prstGeom>
          <a:solidFill>
            <a:srgbClr val="2D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8092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Slate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#2D4A5E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03136" y="2286000"/>
            <a:ext cx="1417320" cy="16459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03136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Wellabe Yellow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#FFC220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98180" y="2286000"/>
            <a:ext cx="1417320" cy="1645920"/>
          </a:xfrm>
          <a:prstGeom prst="rect">
            <a:avLst/>
          </a:prstGeom>
          <a:solidFill>
            <a:srgbClr val="F5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98180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Paper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#F5F2ED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93224" y="2286000"/>
            <a:ext cx="1417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93224" y="4023360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B1C2C"/>
                </a:solidFill>
                <a:latin typeface="Calibri"/>
              </a:rPr>
              <a:t>White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#FFFFFF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35204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0B1C2C"/>
                </a:solidFill>
                <a:latin typeface="Calibri"/>
              </a:rPr>
              <a:t>Primary accent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74920"/>
            <a:ext cx="10533888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521208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B1C2C"/>
                </a:solidFill>
                <a:latin typeface="Cambria"/>
              </a:rPr>
              <a:t>Cambria</a:t>
            </a:r>
            <a:r>
              <a:rPr sz="1200" b="0" i="0">
                <a:solidFill>
                  <a:srgbClr val="5A6B78"/>
                </a:solidFill>
                <a:latin typeface="Calibri"/>
              </a:rPr>
              <a:t>  — display &amp; headers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C2C"/>
                </a:solidFill>
                <a:latin typeface="Calibri"/>
              </a:rPr>
              <a:t>Calibri</a:t>
            </a:r>
            <a:r>
              <a:rPr sz="1200" b="0" i="0">
                <a:solidFill>
                  <a:srgbClr val="5A6B78"/>
                </a:solidFill>
                <a:latin typeface="Calibri"/>
              </a:rPr>
              <a:t>  — body &amp; UI, clear and direct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285232"/>
            <a:ext cx="4754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2D4A5E"/>
                </a:solidFill>
                <a:latin typeface="Calibri"/>
              </a:rPr>
              <a:t>Deliberately unfussy. The type shouldn't show off — it should just be easy to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847</Words>
  <Application>Microsoft Office PowerPoint</Application>
  <PresentationFormat>Widescreen</PresentationFormat>
  <Paragraphs>120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 Johnson</cp:lastModifiedBy>
  <cp:revision>2</cp:revision>
  <dcterms:created xsi:type="dcterms:W3CDTF">2013-01-27T09:14:16Z</dcterms:created>
  <dcterms:modified xsi:type="dcterms:W3CDTF">2026-07-01T13:14:33Z</dcterms:modified>
  <cp:category/>
</cp:coreProperties>
</file>