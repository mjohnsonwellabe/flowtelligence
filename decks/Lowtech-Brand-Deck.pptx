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54864" cy="68580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005840" cy="100584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486400" cy="138988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7600" b="1">
                <a:solidFill>
                  <a:srgbClr val="FFFFFF"/>
                </a:solidFill>
                <a:latin typeface="Cambria"/>
              </a:rPr>
              <a:t>Low</a:t>
            </a:r>
            <a:r>
              <a:rPr sz="7600" b="1">
                <a:solidFill>
                  <a:srgbClr val="FFC220"/>
                </a:solidFill>
                <a:latin typeface="Cambria"/>
              </a:rPr>
              <a:t>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300">
                <a:solidFill>
                  <a:srgbClr val="FFC220"/>
                </a:solidFill>
                <a:latin typeface="Calibri"/>
              </a:rPr>
              <a:t>BRAND DECK · CARRIER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So simple it feels like cheating.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223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9CED6"/>
                </a:solidFill>
                <a:latin typeface="Calibri"/>
              </a:rPr>
              <a:t>Lowtech Carrier Solutions — a carrier platform where the technology stays out of your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5176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The tech disappears.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C220"/>
                </a:solidFill>
                <a:latin typeface="Cambria"/>
              </a:rPr>
              <a:t>The results don't.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B9CED6"/>
                </a:solidFill>
                <a:latin typeface="Calibri"/>
              </a:rPr>
              <a:t>   Carrier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THE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The name is the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4937760" cy="196596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73152" cy="196596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lowtech  </a:t>
            </a:r>
            <a:r>
              <a:rPr sz="1500" b="0" i="1">
                <a:solidFill>
                  <a:srgbClr val="B9CED6"/>
                </a:solidFill>
                <a:latin typeface="Calibri"/>
              </a:rPr>
              <a:t>(adj.)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1">
                <a:solidFill>
                  <a:srgbClr val="FFC220"/>
                </a:solidFill>
                <a:latin typeface="Cambria"/>
              </a:rPr>
              <a:t>So simple it feels like cheating.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Low·tek  —  two syllables, stress on the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5212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D4A5E"/>
                </a:solidFill>
                <a:latin typeface="Calibri"/>
              </a:rPr>
              <a:t>Every other insurtech leads with how advanced its technology is — AI, machine learning, API-first. They make the technology the hero.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We flip that.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D4A5E"/>
                </a:solidFill>
                <a:latin typeface="Calibri"/>
              </a:rPr>
              <a:t>If using Lowtech feels low-tech to the people running the carrier, we did our job. Your operations team configures everything — no engineers, no release cycles, no IT tickets.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B1C2C"/>
                </a:solidFill>
                <a:latin typeface="Cambria"/>
              </a:rPr>
              <a:t>The technology disappears. The results don't.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D4A5E"/>
                </a:solidFill>
                <a:latin typeface="Calibri"/>
              </a:rPr>
              <a:t>The sophistication is real — it just lives in the engine room, not in your hands. That is the whole idea of the name.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Every carrier has the same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470916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rate change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Should take a week. Takes a quarter. Most platforms weren't built to move at your speed.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21945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21945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395728"/>
            <a:ext cx="470916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product launch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Should take a month. Takes a year. Because the system can't handle it without a rebuild.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95928"/>
            <a:ext cx="470916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rule update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Six weeks, minimum. The change itself takes an hour. The process around it takes the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3794760"/>
            <a:ext cx="521208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3794760"/>
            <a:ext cx="73152" cy="14813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95928"/>
            <a:ext cx="470916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new state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Your distribution wants to expand. Your technology says wait until next year.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86400"/>
            <a:ext cx="10533888" cy="566928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486400"/>
            <a:ext cx="73152" cy="566928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68696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None of this is inevitable. It's just what happens when the platform wasn't built for the people who run the carrier.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One platform. Three ways it changes your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29184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329184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95728"/>
            <a:ext cx="2788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0B1C2C"/>
                </a:solidFill>
                <a:latin typeface="Cambria"/>
              </a:rPr>
              <a:t>Orchestrator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B7A8C"/>
                </a:solidFill>
                <a:latin typeface="Calibri"/>
              </a:rPr>
              <a:t>EASY TO DEPLOY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The configurability engine. Your operations team configures products, underwriting rules, screens, questions, and API calls through a drag-and-drop studio. No code. Sandbox to production in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194560"/>
            <a:ext cx="329184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194560"/>
            <a:ext cx="329184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2788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0B1C2C"/>
                </a:solidFill>
                <a:latin typeface="Cambria"/>
              </a:rPr>
              <a:t>Enroller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B7A8C"/>
                </a:solidFill>
                <a:latin typeface="Calibri"/>
              </a:rPr>
              <a:t>FUELS GROWTH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The point-of-sale e-app your agents use. First question to issued policy, with real-time underwriting decisions at the point of sale. No callback, no delay — more applications, more writing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8975" y="2194560"/>
            <a:ext cx="329184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8975" y="2194560"/>
            <a:ext cx="329184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2395728"/>
            <a:ext cx="2788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0B1C2C"/>
                </a:solidFill>
                <a:latin typeface="Cambria"/>
              </a:rPr>
              <a:t>Engagement Suite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B7A8C"/>
                </a:solidFill>
                <a:latin typeface="Calibri"/>
              </a:rPr>
              <a:t>FUELS INTELLIGENCE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A6B78"/>
                </a:solidFill>
                <a:latin typeface="Calibri"/>
              </a:rPr>
              <a:t>Pulse + Engage. Executive analytics on STP, pipeline, and agent performance — live. Plus agent messaging, incentives, product matching, scanning, and lead routing. Decision-making and engagement, compounding.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68112"/>
            <a:ext cx="10533888" cy="603504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468112"/>
            <a:ext cx="73152" cy="603504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541264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Deploy fast. Sell at the point of sale. Compound growth with intelligence and engagement — all run by the carrier's own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PLATFORM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Five products. One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1691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Orchestrator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The configurability engine. Products, rules, screens, and API calls — configured by your operations team. Drag, drop,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9796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9796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2676" y="2487168"/>
            <a:ext cx="1691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Enroller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The e-app platform your agents use. First question to issued policy. Real-time decisions. No callback.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56632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487168"/>
            <a:ext cx="1691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Pulse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Executive analytics. Agent performance, pipeline health, STP rates. Live — not last week's report.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3468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3468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6348" y="2487168"/>
            <a:ext cx="1691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Engage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Agent messaging, incentives, product matching, scanning, and lead routing. Every touchpoint covered.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2286000"/>
            <a:ext cx="20116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304" y="2286000"/>
            <a:ext cx="2011680" cy="82296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487168"/>
            <a:ext cx="1691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C220"/>
                </a:solidFill>
                <a:latin typeface="Cambria"/>
              </a:rPr>
              <a:t>05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C2C"/>
                </a:solidFill>
                <a:latin typeface="Cambria"/>
              </a:rPr>
              <a:t>Launchpad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Implementation. From signed contract to live production in weeks — not months or years.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2D4A5E"/>
                </a:solidFill>
                <a:latin typeface="Calibri"/>
              </a:rPr>
              <a:t>Nothing complicated.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BRAND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What Lowtech is. What it isn't.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32918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73152" cy="16916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2788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Simple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The interface is clean, the experience clear. Complexity lives in the engine room, not the user's hands.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240280"/>
            <a:ext cx="32918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240280"/>
            <a:ext cx="73152" cy="16916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441448"/>
            <a:ext cx="2788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Confident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We don't explain ourselves with jargon. We show what the platform does and let the results talk.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8975" y="2240280"/>
            <a:ext cx="32918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8975" y="2240280"/>
            <a:ext cx="73152" cy="16916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5" y="2441448"/>
            <a:ext cx="2788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Operator-side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We're on the carrier's side — not the vendor's, not the consultant's. We want you to win.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14800"/>
            <a:ext cx="32918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14800"/>
            <a:ext cx="73152" cy="16916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15968"/>
            <a:ext cx="2788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Invisible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The best technology is the kind you forget is there. You do your job; it does its job.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4114800"/>
            <a:ext cx="32918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4114800"/>
            <a:ext cx="73152" cy="16916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4315968"/>
            <a:ext cx="2788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Direct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No consulting speak, no complexity theater. We say what we mean and deliver what we say.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08975" y="4114800"/>
            <a:ext cx="32918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08975" y="4114800"/>
            <a:ext cx="73152" cy="16916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5" y="4315968"/>
            <a:ext cx="2788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Earned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Built by people who ran a carrier and felt the friction firsthand. Every decision came from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BRAND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What Lowtech sounds 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4846320" cy="365760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73152" cy="36576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4206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C220"/>
                </a:solidFill>
                <a:latin typeface="Calibri"/>
              </a:rPr>
              <a:t>PRIMARY TAGLINE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The tech disappears.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FFC220"/>
                </a:solidFill>
                <a:latin typeface="Cambria"/>
              </a:rPr>
              <a:t>The results don't.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86000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A8C"/>
                </a:solidFill>
                <a:latin typeface="Calibri"/>
              </a:rPr>
              <a:t>CREDIBILITY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Built by engineers. Felt like magic by everyone else.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044952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A8C"/>
                </a:solidFill>
                <a:latin typeface="Calibri"/>
              </a:rPr>
              <a:t>SIMPLICITY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No developers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803904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A8C"/>
                </a:solidFill>
                <a:latin typeface="Calibri"/>
              </a:rPr>
              <a:t>EXPERIENCE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So simple it feels like cheating.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562856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A8C"/>
                </a:solidFill>
                <a:latin typeface="Calibri"/>
              </a:rPr>
              <a:t>ORIGIN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The platform that makes complexity disappear.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321808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7A8C"/>
                </a:solidFill>
                <a:latin typeface="Calibri"/>
              </a:rPr>
              <a:t>OWNERSHIP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1C2C"/>
                </a:solidFill>
                <a:latin typeface="Cambria"/>
              </a:rPr>
              <a:t>Your operations team. Your rules. Your market.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02920"/>
            <a:ext cx="731520" cy="9144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0B7A8C"/>
                </a:solidFill>
                <a:latin typeface="Calibri"/>
              </a:rPr>
              <a:t>VISUAL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B1C2C"/>
                </a:solidFill>
                <a:latin typeface="Cambria"/>
              </a:rPr>
              <a:t>Color &amp; Typography.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C2C"/>
                </a:solidFill>
                <a:latin typeface="Cambria"/>
              </a:rPr>
              <a:t>Low</a:t>
            </a:r>
            <a:r>
              <a:rPr sz="1100" b="1">
                <a:solidFill>
                  <a:srgbClr val="FFC220"/>
                </a:solidFill>
                <a:latin typeface="Cambria"/>
              </a:rPr>
              <a:t>tech</a:t>
            </a:r>
            <a:r>
              <a:rPr sz="1000">
                <a:solidFill>
                  <a:srgbClr val="5A6B78"/>
                </a:solidFill>
                <a:latin typeface="Calibri"/>
              </a:rPr>
              <a:t>   Carrier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B78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417320" cy="1645920"/>
          </a:xfrm>
          <a:prstGeom prst="rect">
            <a:avLst/>
          </a:prstGeom>
          <a:solidFill>
            <a:srgbClr val="0B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Ink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#0B1C2C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8004" y="2286000"/>
            <a:ext cx="1417320" cy="164592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8004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Teal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#0B7A8C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3048" y="2286000"/>
            <a:ext cx="1417320" cy="1645920"/>
          </a:xfrm>
          <a:prstGeom prst="rect">
            <a:avLst/>
          </a:prstGeom>
          <a:solidFill>
            <a:srgbClr val="12B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#12B5CC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8092" y="2286000"/>
            <a:ext cx="1417320" cy="1645920"/>
          </a:xfrm>
          <a:prstGeom prst="rect">
            <a:avLst/>
          </a:prstGeom>
          <a:solidFill>
            <a:srgbClr val="2D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8092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Slate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#2D4A5E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3136" y="2286000"/>
            <a:ext cx="1417320" cy="16459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Wellabe Yellow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#FFC220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8180" y="2286000"/>
            <a:ext cx="1417320" cy="1645920"/>
          </a:xfrm>
          <a:prstGeom prst="rect">
            <a:avLst/>
          </a:prstGeom>
          <a:solidFill>
            <a:srgbClr val="F5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8180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Paper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#F5F2ED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93224" y="2286000"/>
            <a:ext cx="1417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93224" y="402336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B1C2C"/>
                </a:solidFill>
                <a:latin typeface="Calibri"/>
              </a:rPr>
              <a:t>White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#FFFFFF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5204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1C2C"/>
                </a:solidFill>
                <a:latin typeface="Calibri"/>
              </a:rPr>
              <a:t>Primary accent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074920"/>
            <a:ext cx="10533888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1C2C"/>
                </a:solidFill>
                <a:latin typeface="Cambria"/>
              </a:rPr>
              <a:t>Cambria</a:t>
            </a:r>
            <a:r>
              <a:rPr sz="1200" b="0" i="0">
                <a:solidFill>
                  <a:srgbClr val="5A6B78"/>
                </a:solidFill>
                <a:latin typeface="Calibri"/>
              </a:rPr>
              <a:t>  — display &amp; headers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C2C"/>
                </a:solidFill>
                <a:latin typeface="Calibri"/>
              </a:rPr>
              <a:t>Calibri</a:t>
            </a:r>
            <a:r>
              <a:rPr sz="1200" b="0" i="0">
                <a:solidFill>
                  <a:srgbClr val="5A6B78"/>
                </a:solidFill>
                <a:latin typeface="Calibri"/>
              </a:rPr>
              <a:t>  — body &amp; UI, clear and 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85232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2D4A5E"/>
                </a:solidFill>
                <a:latin typeface="Calibri"/>
              </a:rPr>
              <a:t>Deliberately unfussy. The type shouldn't show off — it should just be easy to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